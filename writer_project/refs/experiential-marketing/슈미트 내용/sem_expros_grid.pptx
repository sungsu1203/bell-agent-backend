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경험 그리드: 세로=SEM 5개(전략, 무슨 경험), 가로=ExPros 7개(전술, 무엇으로). 핵심 = 어떤 경험이든 어떤 제공수단으로도 구현 가능. 칠해진 칸은 스타벅스 예시 — 실습으로 학생들이 자기 브랜드의 빈 칸을 채우게 하면 좋다. 관리 3원칙(일관·지속·디테일)이 그리드를 살린다.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46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EXPERIENTIAL GRID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그리드 — SEM × ExPros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세로(전략) = 무슨 경험 · 가로(전술) = 무엇으로 구현.  </a:t>
            </a:r>
            <a:pPr algn="l" indent="0" marL="0">
              <a:buNone/>
            </a:pPr>
            <a:r>
              <a:rPr lang="en-US" sz="1350" dirty="0">
                <a:solidFill>
                  <a:srgbClr val="555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SEM이든, 어떤 ExPro로도 만들 수 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554480" cy="658368"/>
          </a:xfrm>
          <a:prstGeom prst="rect">
            <a:avLst/>
          </a:prstGeom>
          <a:solidFill>
            <a:srgbClr val="E7E9E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74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ExPros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874520"/>
            <a:ext cx="1384663" cy="65836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8256" y="1874520"/>
            <a:ext cx="1311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커뮤니케이션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6343" y="1874520"/>
            <a:ext cx="1384663" cy="65836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2919" y="1874520"/>
            <a:ext cx="1311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시각·언어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아이덴티티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81006" y="1874520"/>
            <a:ext cx="1384663" cy="65836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7582" y="1874520"/>
            <a:ext cx="1311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외형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5669" y="1874520"/>
            <a:ext cx="1384663" cy="65836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2245" y="1874520"/>
            <a:ext cx="1311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50331" y="1874520"/>
            <a:ext cx="1384663" cy="65836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6907" y="1874520"/>
            <a:ext cx="1311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환경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34994" y="1874520"/>
            <a:ext cx="1384663" cy="65836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1570" y="1874520"/>
            <a:ext cx="1311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전자매체·웹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319657" y="1874520"/>
            <a:ext cx="1384663" cy="65836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56233" y="1874520"/>
            <a:ext cx="1311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532888"/>
            <a:ext cx="1554480" cy="603504"/>
          </a:xfrm>
          <a:prstGeom prst="rect">
            <a:avLst/>
          </a:prstGeom>
          <a:solidFill>
            <a:srgbClr val="2023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532888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  </a:t>
            </a:r>
            <a:pPr algn="l" indent="0" marL="0">
              <a:buNone/>
            </a:pPr>
            <a:r>
              <a:rPr lang="en-US" sz="1400" b="1" dirty="0">
                <a:solidFill>
                  <a:srgbClr val="9BB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011680" y="2532888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6343" y="2532888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81006" y="2532888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5669" y="2532888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50331" y="2532888"/>
            <a:ext cx="1384663" cy="603504"/>
          </a:xfrm>
          <a:prstGeom prst="rect">
            <a:avLst/>
          </a:prstGeom>
          <a:solidFill>
            <a:srgbClr val="FBEBE3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50331" y="2532888"/>
            <a:ext cx="64008" cy="603504"/>
          </a:xfrm>
          <a:prstGeom prst="rect">
            <a:avLst/>
          </a:prstGeom>
          <a:solidFill>
            <a:srgbClr val="E8623D"/>
          </a:solidFill>
          <a:ln/>
        </p:spPr>
      </p:sp>
      <p:sp>
        <p:nvSpPr>
          <p:cNvPr id="30" name="Text 28"/>
          <p:cNvSpPr/>
          <p:nvPr/>
        </p:nvSpPr>
        <p:spPr>
          <a:xfrm>
            <a:off x="7660059" y="2532888"/>
            <a:ext cx="120178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향·음악·조명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934994" y="2532888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19657" y="2532888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136392"/>
            <a:ext cx="1554480" cy="603504"/>
          </a:xfrm>
          <a:prstGeom prst="rect">
            <a:avLst/>
          </a:prstGeom>
          <a:solidFill>
            <a:srgbClr val="2023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136392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 </a:t>
            </a:r>
            <a:pPr algn="l" indent="0" marL="0">
              <a:buNone/>
            </a:pPr>
            <a:r>
              <a:rPr lang="en-US" sz="1400" b="1" dirty="0">
                <a:solidFill>
                  <a:srgbClr val="9BB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FEEL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011680" y="3136392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96343" y="3136392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81006" y="3136392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65669" y="3136392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50331" y="3136392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34994" y="3136392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19657" y="3136392"/>
            <a:ext cx="1384663" cy="603504"/>
          </a:xfrm>
          <a:prstGeom prst="rect">
            <a:avLst/>
          </a:prstGeom>
          <a:solidFill>
            <a:srgbClr val="FBEBE3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19657" y="3136392"/>
            <a:ext cx="64008" cy="603504"/>
          </a:xfrm>
          <a:prstGeom prst="rect">
            <a:avLst/>
          </a:prstGeom>
          <a:solidFill>
            <a:srgbClr val="E8623D"/>
          </a:solidFill>
          <a:ln/>
        </p:spPr>
      </p:sp>
      <p:sp>
        <p:nvSpPr>
          <p:cNvPr id="43" name="Text 41"/>
          <p:cNvSpPr/>
          <p:nvPr/>
        </p:nvSpPr>
        <p:spPr>
          <a:xfrm>
            <a:off x="10429385" y="3136392"/>
            <a:ext cx="120178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불러주기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739896"/>
            <a:ext cx="1554480" cy="603504"/>
          </a:xfrm>
          <a:prstGeom prst="rect">
            <a:avLst/>
          </a:prstGeom>
          <a:solidFill>
            <a:srgbClr val="2023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3739896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 </a:t>
            </a:r>
            <a:pPr algn="l" indent="0" marL="0">
              <a:buNone/>
            </a:pPr>
            <a:r>
              <a:rPr lang="en-US" sz="1400" b="1" dirty="0">
                <a:solidFill>
                  <a:srgbClr val="9BB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011680" y="3739896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96343" y="3739896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81006" y="3739896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65669" y="3739896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50331" y="3739896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34994" y="3739896"/>
            <a:ext cx="1384663" cy="603504"/>
          </a:xfrm>
          <a:prstGeom prst="rect">
            <a:avLst/>
          </a:prstGeom>
          <a:solidFill>
            <a:srgbClr val="FBEBE3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34994" y="3739896"/>
            <a:ext cx="64008" cy="603504"/>
          </a:xfrm>
          <a:prstGeom prst="rect">
            <a:avLst/>
          </a:prstGeom>
          <a:solidFill>
            <a:srgbClr val="E8623D"/>
          </a:solidFill>
          <a:ln/>
        </p:spPr>
      </p:sp>
      <p:sp>
        <p:nvSpPr>
          <p:cNvPr id="53" name="Text 51"/>
          <p:cNvSpPr/>
          <p:nvPr/>
        </p:nvSpPr>
        <p:spPr>
          <a:xfrm>
            <a:off x="9044722" y="3739896"/>
            <a:ext cx="120178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리워드 게임화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319657" y="3739896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4343400"/>
            <a:ext cx="1554480" cy="603504"/>
          </a:xfrm>
          <a:prstGeom prst="rect">
            <a:avLst/>
          </a:prstGeom>
          <a:solidFill>
            <a:srgbClr val="2023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434340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 </a:t>
            </a:r>
            <a:pPr algn="l" indent="0" marL="0">
              <a:buNone/>
            </a:pPr>
            <a:r>
              <a:rPr lang="en-US" sz="1400" b="1" dirty="0">
                <a:solidFill>
                  <a:srgbClr val="9BB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011680" y="4343400"/>
            <a:ext cx="1384663" cy="603504"/>
          </a:xfrm>
          <a:prstGeom prst="rect">
            <a:avLst/>
          </a:prstGeom>
          <a:solidFill>
            <a:srgbClr val="FBEBE3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11680" y="4343400"/>
            <a:ext cx="64008" cy="603504"/>
          </a:xfrm>
          <a:prstGeom prst="rect">
            <a:avLst/>
          </a:prstGeom>
          <a:solidFill>
            <a:srgbClr val="E8623D"/>
          </a:solidFill>
          <a:ln/>
        </p:spPr>
      </p:sp>
      <p:sp>
        <p:nvSpPr>
          <p:cNvPr id="59" name="Text 57"/>
          <p:cNvSpPr/>
          <p:nvPr/>
        </p:nvSpPr>
        <p:spPr>
          <a:xfrm>
            <a:off x="2121408" y="4343400"/>
            <a:ext cx="120178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'제3의 공간'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라이프스타일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396343" y="4343400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81006" y="4343400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65669" y="4343400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50331" y="4343400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34994" y="4343400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319657" y="4343400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4946904"/>
            <a:ext cx="1554480" cy="603504"/>
          </a:xfrm>
          <a:prstGeom prst="rect">
            <a:avLst/>
          </a:prstGeom>
          <a:solidFill>
            <a:srgbClr val="2023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" y="494690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 </a:t>
            </a:r>
            <a:pPr algn="l" indent="0" marL="0">
              <a:buNone/>
            </a:pPr>
            <a:r>
              <a:rPr lang="en-US" sz="1400" b="1" dirty="0">
                <a:solidFill>
                  <a:srgbClr val="9BB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RELATE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2011680" y="4946904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396343" y="4946904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81006" y="4946904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65669" y="4946904"/>
            <a:ext cx="1384663" cy="603504"/>
          </a:xfrm>
          <a:prstGeom prst="rect">
            <a:avLst/>
          </a:prstGeom>
          <a:solidFill>
            <a:srgbClr val="FBEBE3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65669" y="4946904"/>
            <a:ext cx="64008" cy="603504"/>
          </a:xfrm>
          <a:prstGeom prst="rect">
            <a:avLst/>
          </a:prstGeom>
          <a:solidFill>
            <a:srgbClr val="E8623D"/>
          </a:solidFill>
          <a:ln/>
        </p:spPr>
      </p:sp>
      <p:sp>
        <p:nvSpPr>
          <p:cNvPr id="73" name="Text 71"/>
          <p:cNvSpPr/>
          <p:nvPr/>
        </p:nvSpPr>
        <p:spPr>
          <a:xfrm>
            <a:off x="6275397" y="4946904"/>
            <a:ext cx="120178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굿즈·커뮤니티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550331" y="4946904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934994" y="4946904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319657" y="4946904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7200" y="571500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20233A"/>
          </a:solidFill>
          <a:ln/>
        </p:spPr>
      </p:sp>
      <p:sp>
        <p:nvSpPr>
          <p:cNvPr id="78" name="Text 76"/>
          <p:cNvSpPr/>
          <p:nvPr/>
        </p:nvSpPr>
        <p:spPr>
          <a:xfrm>
            <a:off x="822960" y="57150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칠해진 칸 = 스타벅스 예시.  </a:t>
            </a:r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9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× 7 = 35칸 어디든 채울 수 있다 — 관건은 각 ExPro를 </a:t>
            </a:r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일관되게 · 지속적으로 · 디테일까지</a:t>
            </a:r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9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관리하는 것.</a:t>
            </a:r>
            <a:endParaRPr lang="en-US" sz="1350" dirty="0"/>
          </a:p>
        </p:txBody>
      </p:sp>
      <p:sp>
        <p:nvSpPr>
          <p:cNvPr id="79" name="Text 77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3주차 (슈미트 SEM)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2026-07-22T00:43:47Z</dcterms:created>
  <dcterms:modified xsi:type="dcterms:W3CDTF">2026-07-22T00:43:47Z</dcterms:modified>
</cp:coreProperties>
</file>