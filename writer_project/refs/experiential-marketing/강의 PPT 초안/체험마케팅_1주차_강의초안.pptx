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1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6964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시간. 강의 정체성 한 줄로: 이론이 15주 내내 관통하는 척추, 매주 거기에 미디어 사례를 붙인다. 단발 특강이 아니라 하나의 흐름임을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자기소개는 신뢰 훅. 핵심은 '연구만 한 사람이 아니라 30년 판 사람'. 이 한 줄이 매주 실무 사례(F열)가 왜 나오는지를 미리 정당화해 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척추/갈비뼈 비유로 강의 전체를 한 장에 각인. 4단계 흐름: 도입 → SEM 5모듈(강의의 심장) → 응용·확장 → 프로젝트. 점선 = 이론이 끊기지 않고 관통한다는 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축: 매주 리듬 / 팀 프로젝트 / 참여. 팀 프로젝트는 9주에 주제 확정, 14·15주 발표라는 점을 미리 예고해 두면 학생들이 초반부터 사례를 프로젝트 관점으로 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아이스브레이킹이자 본론으로 넘어가는 다리. 학생들이 '왜 좋은지' 답하면 대개 스펙이 아니라 감정·분위기·재미를 말함 → 그걸 받아서 '그게 바로 경험적 소비'라고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본론 진입 질문. 학생 몇 명 즉석으로 답 받아도 좋음. 거의 항상 '느낌' 쪽으로 기움 → 왜 마케팅이 오랫동안 '스펙(정보)'만 다뤘는지로 자연스럽게 이동.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정보처리 모델을 '틀린 것'이 아니라 '일부만 설명하는 것'으로 소개하는 게 중요(원저자 취지). 냉장고·보험 같은 실용재엔 잘 맞지만 쾌락·상징 소비엔 균열이 생긴다로 다음 장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일상적이고 공감되는 예시들로 균열을 보여줌. 학생 각자 자기 예시 한둘 더 붙이게 해도 좋음. 공통점 = 효용/기능이 아니라 경험 자체를 소비. 그래서 다음 장 홀브룩·허쉬만.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강의의 핵심 이론 슬라이드. 3F(환상·감정·재미)를 각인. 이건 정보처리 모델을 버리는 게 아니라 '보완'하는 관점이라는 점을 반드시 짚기 — 대학원생 상대라 이 뉘앙스가 깊이를 만듦.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색 규칙 각인: 왼쪽 차가운 파랑 = 정보, 오른쪽 따뜻한 코랄 = 경험. 이 색 규칙이 다음 장 아임비타 사례와 이후 15주 비교에서 계속 재사용됨.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[오성수 실무 사례 자리] 강의 직전에 최신 클립·캡처·성과지표(조회수/반응)로 보강할 것. 토론 질문: 두 편을 각각 어떤 타깃에 붙였을까? 경험형이 언제 스펙형보다 강한가? 색 규칙(파랑=정보/코랄=경험)이 실제 광고에서 그대로 드러남을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3A9F7-66E1-839C-DFB5-AB4E13FD4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08DDF7-22FB-311B-6559-3CF4055FF4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0ACFE4-B3F4-8C8F-414C-B62863F77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[오성수 실무 사례 자리] 강의 직전에 최신 클립·캡처·성과지표(조회수/반응)로 보강할 것. 토론 질문: 두 편을 각각 어떤 타깃에 붙였을까? 경험형이 언제 스펙형보다 강한가? 색 규칙(파랑=정보/코랄=경험)이 실제 광고에서 그대로 드러남을 확인.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07801-D703-5ABB-2388-77545294F2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4931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분트 곡선: 자극(각성 잠재력) 대비 쾌감의 역U자. 자극이 약하면 지루, 강하면 과부하, 중간이 최적. 벌라인의 실험미학을 거쳐 홀브룩이 경험적·미적 소비에 적용. 6주(인지·놀라움), 11주(몰입/플로우)와 연결. 핵심 한 줄: 경험 설계의 목표는 자극의 최대가 아니라 최적.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정보 과잉 vs 주목 희소의 대비로 '왜 지금'을 설득. 11주(측정)·12주(브랜드 자산)로 가는 복선. 경험이 성과로 이어지는 얘기는 뒤에서 본격적으로 다룬다고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한 문장으로 닫기: 소비는 정보처리가 아니라 경험이다. 다음 주는 그 경험이 어떻게 '가치·돈'이 되는지(경험 경제)로 이어짐. 과제는 다음 주 도입 토론 재료로 사용.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43850" y="1600200"/>
            <a:ext cx="3931920" cy="3931920"/>
          </a:xfrm>
          <a:prstGeom prst="ellipse">
            <a:avLst/>
          </a:prstGeom>
          <a:solidFill>
            <a:srgbClr val="3D5A80">
              <a:alpha val="5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516618" y="1600200"/>
            <a:ext cx="3931920" cy="3931920"/>
          </a:xfrm>
          <a:prstGeom prst="ellipse">
            <a:avLst/>
          </a:prstGeom>
          <a:solidFill>
            <a:srgbClr val="E8623D">
              <a:alpha val="5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E86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F2B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이론이라는 척추에, 매주 미디어 사례라는 살을 붙인다.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5852160" cy="0"/>
          </a:xfrm>
          <a:prstGeom prst="line">
            <a:avLst/>
          </a:prstGeom>
          <a:noFill/>
          <a:ln w="12700">
            <a:solidFill>
              <a:srgbClr val="4A4F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5074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C9CC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홍익대학교 대학원 · 브랜드경험마케팅 특강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C9CC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오성수    |    2025학년도 2학기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57784"/>
            <a:ext cx="146304" cy="146304"/>
          </a:xfrm>
          <a:prstGeom prst="ellipse">
            <a:avLst/>
          </a:prstGeom>
          <a:solidFill>
            <a:srgbClr val="E86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4846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1381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사람에게 배우나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212080" cy="4160520"/>
          </a:xfrm>
          <a:prstGeom prst="roundRect">
            <a:avLst>
              <a:gd name="adj" fmla="val 2198"/>
            </a:avLst>
          </a:prstGeom>
          <a:solidFill>
            <a:srgbClr val="2023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4617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“경험을 연구만 한 게</a:t>
            </a:r>
            <a:endParaRPr lang="en-US" sz="26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아니라, 30년간 팔았다.”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457200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C9CC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강의는 이론과 현장 사이를 왕복합니다.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C9CC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매주 이론 옆에 실제 캠페인이 붙습니다.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35040" y="1874520"/>
            <a:ext cx="457200" cy="457200"/>
          </a:xfrm>
          <a:prstGeom prst="ellipse">
            <a:avLst/>
          </a:prstGeom>
          <a:solidFill>
            <a:srgbClr val="E86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0350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75120" y="18105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30년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75120" y="2194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4448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광고회사 벨컴(Welcom) CEO — 브랜드·캠페인 현장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3246120"/>
            <a:ext cx="457200" cy="457200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0350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75120" y="31821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학문의 뿌리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75120" y="35661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4448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심리학 전공(서울대) — 소비자를 '사람'으로 보는 훈련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35040" y="4617720"/>
            <a:ext cx="457200" cy="457200"/>
          </a:xfrm>
          <a:prstGeom prst="ellipse">
            <a:avLst/>
          </a:prstGeom>
          <a:solidFill>
            <a:srgbClr val="2023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0350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75120" y="45537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연구자로 전환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75120" y="49377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4448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박사과정 — 브랜드 스티그마·소비자심리 연구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1주차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57784"/>
            <a:ext cx="146304" cy="146304"/>
          </a:xfrm>
          <a:prstGeom prst="ellipse">
            <a:avLst/>
          </a:prstGeom>
          <a:solidFill>
            <a:srgbClr val="E86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4846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COURSE MAP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1381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강의의 구조 — 척추와 갈비뼈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세로축(척추) = 15주를 관통하는 체험마케팅 이론.   </a:t>
            </a:r>
            <a:r>
              <a:rPr lang="en-US" sz="1450" dirty="0">
                <a:solidFill>
                  <a:srgbClr val="4448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매주 붙는 갈비뼈 = 그 이론으로 해부하는 실제 미디어 콘텐츠.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817620"/>
            <a:ext cx="11210544" cy="0"/>
          </a:xfrm>
          <a:prstGeom prst="line">
            <a:avLst/>
          </a:prstGeom>
          <a:noFill/>
          <a:ln w="25400">
            <a:solidFill>
              <a:srgbClr val="D9DDE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  <a:effectLst>
            <a:outerShdw blurRad="76200" dist="38100" dir="5400000" algn="bl" rotWithShape="0">
              <a:srgbClr val="9AA0AE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04672" y="2926080"/>
            <a:ext cx="1371600" cy="402336"/>
          </a:xfrm>
          <a:prstGeom prst="roundRect">
            <a:avLst>
              <a:gd name="adj" fmla="val 13636"/>
            </a:avLst>
          </a:prstGeom>
          <a:solidFill>
            <a:srgbClr val="E86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04672" y="29260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1–2주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520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77240" y="40233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'경험'인가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044952" y="3497580"/>
            <a:ext cx="420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AA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447288" y="265176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  <a:effectLst>
            <a:outerShdw blurRad="76200" dist="38100" dir="5400000" algn="bl" rotWithShape="0">
              <a:srgbClr val="9AA0AE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703320" y="2926080"/>
            <a:ext cx="1371600" cy="402336"/>
          </a:xfrm>
          <a:prstGeom prst="roundRect">
            <a:avLst>
              <a:gd name="adj" fmla="val 13636"/>
            </a:avLst>
          </a:prstGeom>
          <a:solidFill>
            <a:srgbClr val="3D5A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703320" y="29260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3–9주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75888" y="3520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 5모듈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675888" y="40233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경험의 다섯 엔진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943600" y="3497580"/>
            <a:ext cx="420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AA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6345936" y="265176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  <a:effectLst>
            <a:outerShdw blurRad="76200" dist="38100" dir="5400000" algn="bl" rotWithShape="0">
              <a:srgbClr val="9AA0AE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601968" y="2926080"/>
            <a:ext cx="1371600" cy="402336"/>
          </a:xfrm>
          <a:prstGeom prst="roundRect">
            <a:avLst>
              <a:gd name="adj" fmla="val 13636"/>
            </a:avLst>
          </a:prstGeom>
          <a:solidFill>
            <a:srgbClr val="E86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601968" y="29260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10–13주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74536" y="3520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응용·확장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574536" y="40233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디지털·측정·브랜드·공간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842248" y="3497580"/>
            <a:ext cx="420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AA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9244584" y="265176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  <a:effectLst>
            <a:outerShdw blurRad="76200" dist="38100" dir="5400000" algn="bl" rotWithShape="0">
              <a:srgbClr val="9AA0AE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500616" y="2926080"/>
            <a:ext cx="1371600" cy="402336"/>
          </a:xfrm>
          <a:prstGeom prst="roundRect">
            <a:avLst>
              <a:gd name="adj" fmla="val 13636"/>
            </a:avLst>
          </a:prstGeom>
          <a:solidFill>
            <a:srgbClr val="3D5A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9500616" y="29260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14–15주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473184" y="3520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9473184" y="40233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캠페인 설계·발표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48640" y="5257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첫 번째 갈비뼈 — 홀브룩 &amp; 허쉬만(1982)에서 출발합니다.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1주차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57784"/>
            <a:ext cx="146304" cy="146304"/>
          </a:xfrm>
          <a:prstGeom prst="ellipse">
            <a:avLst/>
          </a:prstGeom>
          <a:solidFill>
            <a:srgbClr val="E86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4846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IT RUNS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1381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방식과 평가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30168" cy="3977640"/>
          </a:xfrm>
          <a:prstGeom prst="roundRect">
            <a:avLst>
              <a:gd name="adj" fmla="val 2519"/>
            </a:avLst>
          </a:prstGeom>
          <a:solidFill>
            <a:srgbClr val="FBEBE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658368" cy="658368"/>
          </a:xfrm>
          <a:prstGeom prst="ellipse">
            <a:avLst/>
          </a:prstGeom>
          <a:solidFill>
            <a:srgbClr val="E86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2898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매주의 리듬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2898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강의 → 실제 콘텐츠 해부 → 토론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343400"/>
            <a:ext cx="2898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55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듣기만 하는 수업이 아니라, 매주 진짜 콘텐츠를 뜯습니다.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498848" y="1828800"/>
            <a:ext cx="3630168" cy="3977640"/>
          </a:xfrm>
          <a:prstGeom prst="roundRect">
            <a:avLst>
              <a:gd name="adj" fmla="val 2519"/>
            </a:avLst>
          </a:prstGeom>
          <a:solidFill>
            <a:srgbClr val="FBEBE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864608" y="2194560"/>
            <a:ext cx="658368" cy="658368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864608" y="21945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64608" y="3063240"/>
            <a:ext cx="2898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프로젝트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64608" y="3566160"/>
            <a:ext cx="2898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 5모듈을 적용한 경험 캠페인 설계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64608" y="4343400"/>
            <a:ext cx="2898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55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9주에 주제 확정 → 14·15주에 발표. 배운 프레임을 직접 씁니다.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540496" y="1828800"/>
            <a:ext cx="3630168" cy="3977640"/>
          </a:xfrm>
          <a:prstGeom prst="roundRect">
            <a:avLst>
              <a:gd name="adj" fmla="val 2519"/>
            </a:avLst>
          </a:prstGeom>
          <a:solidFill>
            <a:srgbClr val="E9EE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906256" y="2194560"/>
            <a:ext cx="658368" cy="658368"/>
          </a:xfrm>
          <a:prstGeom prst="ellipse">
            <a:avLst/>
          </a:prstGeom>
          <a:solidFill>
            <a:srgbClr val="2023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906256" y="21945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906256" y="3063240"/>
            <a:ext cx="2898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비중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906256" y="3566160"/>
            <a:ext cx="2898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해부·토론·발표의 능동적 참여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906256" y="4343400"/>
            <a:ext cx="2898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55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대학원 수업답게, 관찰자보다 설계자로 참여하길 기대합니다.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1주차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57784"/>
            <a:ext cx="146304" cy="146304"/>
          </a:xfrm>
          <a:prstGeom prst="ellipse">
            <a:avLst/>
          </a:prstGeom>
          <a:solidFill>
            <a:srgbClr val="E86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4846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ICE-BREAKER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1381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요즘 계속 보게 되는 콘텐츠, 하나만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6675120" cy="3977640"/>
          </a:xfrm>
          <a:prstGeom prst="roundRect">
            <a:avLst>
              <a:gd name="adj" fmla="val 2299"/>
            </a:avLst>
          </a:prstGeom>
          <a:solidFill>
            <a:srgbClr val="FBEBE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해봅시다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요즘 자꾸 다시 보게 되는 브랜드 콘텐츠·채널 하나를 떠올린다</a:t>
            </a:r>
            <a:endParaRPr lang="en-US" sz="1700" dirty="0"/>
          </a:p>
          <a:p>
            <a:pPr marL="0" indent="0" algn="l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“왜 좋은지”를 딱 한 줄로 말해본다</a:t>
            </a:r>
            <a:endParaRPr lang="en-US" sz="17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옆 사람과 한 마디씩 나눈다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60920" y="1783080"/>
            <a:ext cx="4343400" cy="3977640"/>
          </a:xfrm>
          <a:prstGeom prst="roundRect">
            <a:avLst>
              <a:gd name="adj" fmla="val 2299"/>
            </a:avLst>
          </a:prstGeom>
          <a:solidFill>
            <a:srgbClr val="2023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68096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F2B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숨은 관찰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0" y="260604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“왜 좋은지”를 말하다 보면,</a:t>
            </a:r>
            <a:endParaRPr lang="en-US" sz="20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 기능이 아니라</a:t>
            </a:r>
            <a:endParaRPr lang="en-US" sz="20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느낌·경험을 말하게 됩니다.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680960" y="50749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C9CC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그 지점에서 오늘 이론이 시작됩니다.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1주차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0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55380" y="1691640"/>
            <a:ext cx="3474720" cy="3474720"/>
          </a:xfrm>
          <a:prstGeom prst="ellipse">
            <a:avLst/>
          </a:prstGeom>
          <a:solidFill>
            <a:srgbClr val="3D5A80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145268" y="1691640"/>
            <a:ext cx="3474720" cy="3474720"/>
          </a:xfrm>
          <a:prstGeom prst="ellipse">
            <a:avLst/>
          </a:prstGeom>
          <a:solidFill>
            <a:srgbClr val="E8623D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F2B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여는 질문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당신이 그 브랜드를</a:t>
            </a:r>
            <a:endParaRPr lang="en-US" sz="40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좋아하는 이유 —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9BB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</a:t>
            </a:r>
            <a:r>
              <a:rPr lang="en-US" sz="3400" b="1" dirty="0">
                <a:solidFill>
                  <a:srgbClr val="C9CC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때문인가,  </a:t>
            </a:r>
            <a:r>
              <a:rPr lang="en-US" sz="3400" b="1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느낌</a:t>
            </a:r>
            <a:r>
              <a:rPr lang="en-US" sz="3400" b="1" dirty="0">
                <a:solidFill>
                  <a:srgbClr val="C9CC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때문인가?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AEB3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대부분의 진짜 이유는, 스펙표에 적혀 있지 않습니다.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57784"/>
            <a:ext cx="146304" cy="146304"/>
          </a:xfrm>
          <a:prstGeom prst="ellipse">
            <a:avLst/>
          </a:prstGeom>
          <a:solidFill>
            <a:srgbClr val="E86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4846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PARADIGM 1 · 정보처리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1381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전통적 관점 — 소비자는 '계산기'였다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dirty="0">
                <a:solidFill>
                  <a:srgbClr val="4448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오랫동안 마케팅은 소비자를 합리적 정보처리자로 봤습니다. 속성을 비교하고, 효용을 계산해, 최적을 고르는 존재.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278892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E9EEF4"/>
          </a:solidFill>
          <a:ln w="12700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자극</a:t>
            </a:r>
            <a:endParaRPr lang="en-US" sz="17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(제품 정보)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200400" y="2788920"/>
            <a:ext cx="502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703320" y="278892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E9EEF4"/>
          </a:solidFill>
          <a:ln w="12700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794760" y="27889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속성 비교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217920" y="2788920"/>
            <a:ext cx="502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720840" y="278892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E9EEF4"/>
          </a:solidFill>
          <a:ln w="12700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812280" y="27889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효용 계산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235440" y="2788920"/>
            <a:ext cx="502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9738360" y="278892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E9EEF4"/>
          </a:solidFill>
          <a:ln w="12700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829800" y="27889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 선택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85800" y="4709160"/>
            <a:ext cx="10789920" cy="960120"/>
          </a:xfrm>
          <a:prstGeom prst="roundRect">
            <a:avLst>
              <a:gd name="adj" fmla="val 7619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005840" y="4709160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'구매'란 = </a:t>
            </a:r>
            <a:r>
              <a:rPr lang="en-US" sz="145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풀어야 할 문제.   </a:t>
            </a:r>
            <a:r>
              <a:rPr lang="en-US" sz="1450" dirty="0">
                <a:solidFill>
                  <a:srgbClr val="555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맞지만, 냉장고나 보험엔 통해도 콘서트·팬덤·“예뻐서”엔 안 통합니다.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1주차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57784"/>
            <a:ext cx="146304" cy="146304"/>
          </a:xfrm>
          <a:prstGeom prst="ellipse">
            <a:avLst/>
          </a:prstGeom>
          <a:solidFill>
            <a:srgbClr val="E86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4846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CRACK · 균열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1381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효용 계산으로 설명 안 되는 소비들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66160" cy="1051560"/>
          </a:xfrm>
          <a:prstGeom prst="roundRect">
            <a:avLst>
              <a:gd name="adj" fmla="val 7826"/>
            </a:avLst>
          </a:prstGeom>
          <a:solidFill>
            <a:srgbClr val="FBEBE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2960" y="2144268"/>
            <a:ext cx="512064" cy="512064"/>
          </a:xfrm>
          <a:prstGeom prst="ellipse">
            <a:avLst/>
          </a:prstGeom>
          <a:solidFill>
            <a:srgbClr val="E86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22960" y="21442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18745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놀이공원 오픈런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389120" y="1874520"/>
            <a:ext cx="3566160" cy="1051560"/>
          </a:xfrm>
          <a:prstGeom prst="roundRect">
            <a:avLst>
              <a:gd name="adj" fmla="val 7826"/>
            </a:avLst>
          </a:prstGeom>
          <a:solidFill>
            <a:srgbClr val="FBEBE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663440" y="2144268"/>
            <a:ext cx="512064" cy="512064"/>
          </a:xfrm>
          <a:prstGeom prst="ellipse">
            <a:avLst/>
          </a:prstGeom>
          <a:solidFill>
            <a:srgbClr val="E86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663440" y="21442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9240" y="18745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콘서트 티케팅 전쟁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229600" y="1874520"/>
            <a:ext cx="3566160" cy="1051560"/>
          </a:xfrm>
          <a:prstGeom prst="roundRect">
            <a:avLst>
              <a:gd name="adj" fmla="val 7826"/>
            </a:avLst>
          </a:prstGeom>
          <a:solidFill>
            <a:srgbClr val="FBEBE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503920" y="2144268"/>
            <a:ext cx="512064" cy="512064"/>
          </a:xfrm>
          <a:prstGeom prst="ellipse">
            <a:avLst/>
          </a:prstGeom>
          <a:solidFill>
            <a:srgbClr val="E86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503920" y="21442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89720" y="18745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한정판 굿즈 수집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3566160" cy="1051560"/>
          </a:xfrm>
          <a:prstGeom prst="roundRect">
            <a:avLst>
              <a:gd name="adj" fmla="val 7826"/>
            </a:avLst>
          </a:prstGeom>
          <a:solidFill>
            <a:srgbClr val="FBEBE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22960" y="3470148"/>
            <a:ext cx="512064" cy="512064"/>
          </a:xfrm>
          <a:prstGeom prst="ellipse">
            <a:avLst/>
          </a:prstGeom>
          <a:solidFill>
            <a:srgbClr val="E86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22960" y="34701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08760" y="32004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덕질·팬덤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4389120" y="3200400"/>
            <a:ext cx="3566160" cy="1051560"/>
          </a:xfrm>
          <a:prstGeom prst="roundRect">
            <a:avLst>
              <a:gd name="adj" fmla="val 7826"/>
            </a:avLst>
          </a:prstGeom>
          <a:solidFill>
            <a:srgbClr val="FBEBE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663440" y="3470148"/>
            <a:ext cx="512064" cy="512064"/>
          </a:xfrm>
          <a:prstGeom prst="ellipse">
            <a:avLst/>
          </a:prstGeom>
          <a:solidFill>
            <a:srgbClr val="E86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663440" y="34701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49240" y="32004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“그냥 예뻐서 샀어”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8229600" y="3200400"/>
            <a:ext cx="3566160" cy="1051560"/>
          </a:xfrm>
          <a:prstGeom prst="roundRect">
            <a:avLst>
              <a:gd name="adj" fmla="val 7826"/>
            </a:avLst>
          </a:prstGeom>
          <a:solidFill>
            <a:srgbClr val="FBEBE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8503920" y="3470148"/>
            <a:ext cx="512064" cy="512064"/>
          </a:xfrm>
          <a:prstGeom prst="ellipse">
            <a:avLst/>
          </a:prstGeom>
          <a:solidFill>
            <a:srgbClr val="E86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503920" y="34701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89720" y="32004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새벽 팝업 줄서기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548640" y="53949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효용이 아니라 경험을 사는 소비.  </a:t>
            </a:r>
            <a:r>
              <a:rPr lang="en-US" sz="1500" dirty="0">
                <a:solidFill>
                  <a:srgbClr val="4448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설명하려면 새로운 렌즈가 필요합니다.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1주차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57784"/>
            <a:ext cx="146304" cy="146304"/>
          </a:xfrm>
          <a:prstGeom prst="ellipse">
            <a:avLst/>
          </a:prstGeom>
          <a:solidFill>
            <a:srgbClr val="E86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4846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PARADIGM 2 · 경험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1381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홀브룩 &amp; 허쉬만 (1982) — 경험적 소비의 등장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4448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소비는 정보처리가 아니라 '체험'이다. 오늘날 체험마케팅 계보의 뿌리가 되는 선언.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3611880" cy="2514600"/>
          </a:xfrm>
          <a:prstGeom prst="roundRect">
            <a:avLst>
              <a:gd name="adj" fmla="val 3636"/>
            </a:avLst>
          </a:prstGeom>
          <a:solidFill>
            <a:srgbClr val="FBEBE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897380" y="2468880"/>
            <a:ext cx="822960" cy="822960"/>
          </a:xfrm>
          <a:prstGeom prst="ellipse">
            <a:avLst/>
          </a:prstGeom>
          <a:solidFill>
            <a:srgbClr val="E86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89738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85800" y="34290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Fantasies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7490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환상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4251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555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상상·이미지·몰입. 제품을 넘어선 상상의 세계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89120" y="2148840"/>
            <a:ext cx="3611880" cy="2514600"/>
          </a:xfrm>
          <a:prstGeom prst="roundRect">
            <a:avLst>
              <a:gd name="adj" fmla="val 3636"/>
            </a:avLst>
          </a:prstGeom>
          <a:solidFill>
            <a:srgbClr val="FBEBE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783580" y="2468880"/>
            <a:ext cx="822960" cy="822960"/>
          </a:xfrm>
          <a:prstGeom prst="ellipse">
            <a:avLst/>
          </a:prstGeom>
          <a:solidFill>
            <a:srgbClr val="E86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78358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72000" y="34290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Feelings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0" y="37490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4251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555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정서적 각성·무드. 좋았어, 설렜어, 뭉클했어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75320" y="2148840"/>
            <a:ext cx="3611880" cy="2514600"/>
          </a:xfrm>
          <a:prstGeom prst="roundRect">
            <a:avLst>
              <a:gd name="adj" fmla="val 3636"/>
            </a:avLst>
          </a:prstGeom>
          <a:solidFill>
            <a:srgbClr val="FBEBE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669780" y="2468880"/>
            <a:ext cx="822960" cy="822960"/>
          </a:xfrm>
          <a:prstGeom prst="ellipse">
            <a:avLst/>
          </a:prstGeom>
          <a:solidFill>
            <a:srgbClr val="E86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66978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458200" y="34290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58200" y="37490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재미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549640" y="4251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555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놀이·즐거움 그 자체. 유용해서가 아니라 즐거워서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48920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핵심어:  </a:t>
            </a:r>
            <a:r>
              <a:rPr lang="en-US" sz="1400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다감각 이미지 · 정서적 각성 · 쾌락적(hedonic) · 상징적 · 미적 반응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58064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Holbrook, M. B., &amp; Hirschman, E. C. (1982). The experiential aspects of consumption. Journal of Consumer Research, 9(2), 132–140.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1주차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57784"/>
            <a:ext cx="146304" cy="146304"/>
          </a:xfrm>
          <a:prstGeom prst="ellipse">
            <a:avLst/>
          </a:prstGeom>
          <a:solidFill>
            <a:srgbClr val="E86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4846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SIDE BY SIDE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1381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렌즈를 나란히 놓으면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834640" y="1783080"/>
            <a:ext cx="4617720" cy="658368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452360" y="1783080"/>
            <a:ext cx="4617720" cy="658368"/>
          </a:xfrm>
          <a:prstGeom prst="rect">
            <a:avLst/>
          </a:prstGeom>
          <a:solidFill>
            <a:srgbClr val="E86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834640" y="178308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정보처리 관점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52360" y="178308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 관점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2286000" cy="749808"/>
          </a:xfrm>
          <a:prstGeom prst="rect">
            <a:avLst/>
          </a:prstGeom>
          <a:solidFill>
            <a:srgbClr val="1F22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2441448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소비자관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34640" y="2441448"/>
            <a:ext cx="4617720" cy="749808"/>
          </a:xfrm>
          <a:prstGeom prst="rect">
            <a:avLst/>
          </a:prstGeom>
          <a:solidFill>
            <a:srgbClr val="E9EE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017520" y="2441448"/>
            <a:ext cx="4251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합리적 문제해결자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52360" y="2441448"/>
            <a:ext cx="4617720" cy="749808"/>
          </a:xfrm>
          <a:prstGeom prst="rect">
            <a:avLst/>
          </a:prstGeom>
          <a:solidFill>
            <a:srgbClr val="FBEBE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635240" y="2441448"/>
            <a:ext cx="4251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감각·감정의 주체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48640" y="3191256"/>
            <a:ext cx="2286000" cy="749808"/>
          </a:xfrm>
          <a:prstGeom prst="rect">
            <a:avLst/>
          </a:prstGeom>
          <a:solidFill>
            <a:srgbClr val="1F22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3191256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초점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834640" y="3191256"/>
            <a:ext cx="4617720" cy="749808"/>
          </a:xfrm>
          <a:prstGeom prst="rect">
            <a:avLst/>
          </a:prstGeom>
          <a:solidFill>
            <a:srgbClr val="E9EE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017520" y="3191256"/>
            <a:ext cx="4251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· 속성 · 효용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452360" y="3191256"/>
            <a:ext cx="4617720" cy="749808"/>
          </a:xfrm>
          <a:prstGeom prst="rect">
            <a:avLst/>
          </a:prstGeom>
          <a:solidFill>
            <a:srgbClr val="FBEBE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635240" y="3191256"/>
            <a:ext cx="4251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환상 · 감정 · 재미 (3F)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548640" y="3941064"/>
            <a:ext cx="2286000" cy="749808"/>
          </a:xfrm>
          <a:prstGeom prst="rect">
            <a:avLst/>
          </a:prstGeom>
          <a:solidFill>
            <a:srgbClr val="1F22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3941064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 양식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834640" y="3941064"/>
            <a:ext cx="4617720" cy="749808"/>
          </a:xfrm>
          <a:prstGeom prst="rect">
            <a:avLst/>
          </a:prstGeom>
          <a:solidFill>
            <a:srgbClr val="E9EE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017520" y="3941064"/>
            <a:ext cx="4251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 · 언어 중심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7452360" y="3941064"/>
            <a:ext cx="4617720" cy="749808"/>
          </a:xfrm>
          <a:prstGeom prst="rect">
            <a:avLst/>
          </a:prstGeom>
          <a:solidFill>
            <a:srgbClr val="FBEBE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635240" y="3941064"/>
            <a:ext cx="4251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다감각 · 정서 · 상징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548640" y="4690872"/>
            <a:ext cx="2286000" cy="749808"/>
          </a:xfrm>
          <a:prstGeom prst="rect">
            <a:avLst/>
          </a:prstGeom>
          <a:solidFill>
            <a:srgbClr val="1F22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40080" y="4690872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'구매'란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2834640" y="4690872"/>
            <a:ext cx="4617720" cy="749808"/>
          </a:xfrm>
          <a:prstGeom prst="rect">
            <a:avLst/>
          </a:prstGeom>
          <a:solidFill>
            <a:srgbClr val="E9EE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017520" y="4690872"/>
            <a:ext cx="4251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해결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7452360" y="4690872"/>
            <a:ext cx="4617720" cy="749808"/>
          </a:xfrm>
          <a:prstGeom prst="rect">
            <a:avLst/>
          </a:prstGeom>
          <a:solidFill>
            <a:srgbClr val="FBEBE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7635240" y="4690872"/>
            <a:ext cx="4251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 그 자체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548640" y="58064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대립이 아니라 렌즈의 전환.  </a:t>
            </a:r>
            <a:r>
              <a:rPr lang="en-US" sz="1450" dirty="0">
                <a:solidFill>
                  <a:srgbClr val="4448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낡은 걸 버린 게 아니라, 렌즈를 하나 추가한 겁니다. 이 강의는 오른쪽 칸을 15주간 팝니다.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1주차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57784"/>
            <a:ext cx="146304" cy="146304"/>
          </a:xfrm>
          <a:prstGeom prst="ellipse">
            <a:avLst/>
          </a:prstGeom>
          <a:solidFill>
            <a:srgbClr val="E86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4846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사례 · CASE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1381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브랜드, 다른 렌즈 — 아임비타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448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브랜드가 두 개의 렌즈를 어떻게 다르게 쓰는지 — 모델·톤·메시지를 나란히 봅니다.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5440680" cy="3200400"/>
          </a:xfrm>
          <a:prstGeom prst="roundRect">
            <a:avLst>
              <a:gd name="adj" fmla="val 2857"/>
            </a:avLst>
          </a:prstGeom>
          <a:solidFill>
            <a:srgbClr val="E9EE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2103120" cy="457200"/>
          </a:xfrm>
          <a:prstGeom prst="roundRect">
            <a:avLst>
              <a:gd name="adj" fmla="val 14000"/>
            </a:avLst>
          </a:prstGeom>
          <a:solidFill>
            <a:srgbClr val="3D5A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전달형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김우빈 편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297180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슬로건: “프리미엄 비타민 파트너”</a:t>
            </a:r>
            <a:endParaRPr lang="en-US" sz="1500" dirty="0"/>
          </a:p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4550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스펙·성분·기능을 전면에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4550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톤: 신뢰 · 전문성 · 프리미엄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1965960"/>
            <a:ext cx="5440680" cy="3200400"/>
          </a:xfrm>
          <a:prstGeom prst="roundRect">
            <a:avLst>
              <a:gd name="adj" fmla="val 2857"/>
            </a:avLst>
          </a:prstGeom>
          <a:solidFill>
            <a:srgbClr val="FBEBE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537960" y="2286000"/>
            <a:ext cx="2103120" cy="457200"/>
          </a:xfrm>
          <a:prstGeom prst="roundRect">
            <a:avLst>
              <a:gd name="adj" fmla="val 14000"/>
            </a:avLst>
          </a:prstGeom>
          <a:solidFill>
            <a:srgbClr val="E86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53796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 유발형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82396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박재범 편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83680" y="297180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활기 · 흥 · 즐거움의 분위기</a:t>
            </a:r>
            <a:endParaRPr lang="en-US" sz="1500" dirty="0"/>
          </a:p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6B4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트렌디한 라이프스타일 그 자체를 제안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6B4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톤: 감각 · 무드 · 재미 (경험을 판다)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5349240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2023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2960" y="53492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2B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제품, 다른 렌즈. </a:t>
            </a:r>
            <a:r>
              <a:rPr lang="en-US" sz="1400" dirty="0">
                <a:solidFill>
                  <a:srgbClr val="E7E9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왼쪽은 '무엇을 주는가(스펙)', 오른쪽은 '어떤 경험을 주는가'. 소비자에 따라 꽂히는 렌즈가 다릅니다.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1주차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8D133-BA23-34E6-D7D8-E24512C5C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AC7BA2D-9875-B3F5-2C01-24F57B374DB2}"/>
              </a:ext>
            </a:extLst>
          </p:cNvPr>
          <p:cNvSpPr/>
          <p:nvPr/>
        </p:nvSpPr>
        <p:spPr>
          <a:xfrm>
            <a:off x="502920" y="557784"/>
            <a:ext cx="146304" cy="146304"/>
          </a:xfrm>
          <a:prstGeom prst="ellipse">
            <a:avLst/>
          </a:prstGeom>
          <a:solidFill>
            <a:srgbClr val="E86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7050036-6207-3588-97D4-D55364695F4D}"/>
              </a:ext>
            </a:extLst>
          </p:cNvPr>
          <p:cNvSpPr/>
          <p:nvPr/>
        </p:nvSpPr>
        <p:spPr>
          <a:xfrm>
            <a:off x="731520" y="4846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사례 · CASE</a:t>
            </a:r>
            <a:endParaRPr lang="en-US" sz="12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8C02824-931F-F575-1E04-2D2149141B8D}"/>
              </a:ext>
            </a:extLst>
          </p:cNvPr>
          <p:cNvSpPr/>
          <p:nvPr/>
        </p:nvSpPr>
        <p:spPr>
          <a:xfrm>
            <a:off x="457200" y="81381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0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칠성사이다 </a:t>
            </a:r>
            <a:r>
              <a:rPr lang="en-US" altLang="ko-KR" sz="30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</a:t>
            </a:r>
            <a:r>
              <a:rPr lang="ko-KR" altLang="en-US" sz="30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뇌파 측정</a:t>
            </a:r>
            <a:r>
              <a:rPr lang="en-US" altLang="ko-KR" sz="30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(Sensory measure)</a:t>
            </a:r>
            <a:endParaRPr lang="en-US" sz="3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A2F08CA-B04D-84FB-8E7A-9AB16C476D74}"/>
              </a:ext>
            </a:extLst>
          </p:cNvPr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1주차</a:t>
            </a:r>
            <a:endParaRPr lang="en-US" sz="9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6087A34-AE13-B695-DB95-48BF19082AC1}"/>
              </a:ext>
            </a:extLst>
          </p:cNvPr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62263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57784"/>
            <a:ext cx="146304" cy="146304"/>
          </a:xfrm>
          <a:prstGeom prst="ellipse">
            <a:avLst/>
          </a:prstGeom>
          <a:solidFill>
            <a:srgbClr val="E86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4846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· WUNDT CURVE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13816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분트 곡선 — 자극과 쾌감의 역U자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8132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자극이 셀수록 좋은 게 아니다. </a:t>
            </a:r>
            <a:r>
              <a:rPr lang="en-US" sz="1400" dirty="0">
                <a:solidFill>
                  <a:srgbClr val="555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지점에서 쾌감이 최대가 된다.   (Wundt 1874 → Berlyne → Holbrook)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0" y="2148840"/>
            <a:ext cx="2896819" cy="2697480"/>
          </a:xfrm>
          <a:prstGeom prst="rect">
            <a:avLst/>
          </a:prstGeom>
          <a:solidFill>
            <a:srgbClr val="F3F5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42739" y="2148840"/>
            <a:ext cx="2984602" cy="2697480"/>
          </a:xfrm>
          <a:prstGeom prst="rect">
            <a:avLst/>
          </a:prstGeom>
          <a:solidFill>
            <a:srgbClr val="FBEBE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527341" y="2148840"/>
            <a:ext cx="2896819" cy="2697480"/>
          </a:xfrm>
          <a:prstGeom prst="rect">
            <a:avLst/>
          </a:prstGeom>
          <a:solidFill>
            <a:srgbClr val="F3F5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645920" y="3686491"/>
            <a:ext cx="8778240" cy="0"/>
          </a:xfrm>
          <a:prstGeom prst="line">
            <a:avLst/>
          </a:prstGeom>
          <a:noFill/>
          <a:ln w="12700">
            <a:solidFill>
              <a:srgbClr val="B9C0C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961120" y="3393883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· 무덤덤</a:t>
            </a:r>
            <a:endParaRPr lang="en-US" sz="10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2148840"/>
            <a:ext cx="8778240" cy="26974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645920" y="4846320"/>
            <a:ext cx="8915400" cy="0"/>
          </a:xfrm>
          <a:prstGeom prst="line">
            <a:avLst/>
          </a:prstGeom>
          <a:noFill/>
          <a:ln w="22225">
            <a:solidFill>
              <a:srgbClr val="1F223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645920" y="4846320"/>
            <a:ext cx="0" cy="0"/>
          </a:xfrm>
          <a:prstGeom prst="line">
            <a:avLst/>
          </a:prstGeom>
          <a:noFill/>
          <a:ln w="22225">
            <a:solidFill>
              <a:srgbClr val="1F223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1554480" y="18562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쾌감 (좋다) ▲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934456" y="2487585"/>
            <a:ext cx="201168" cy="201168"/>
          </a:xfrm>
          <a:prstGeom prst="ellipse">
            <a:avLst/>
          </a:prstGeom>
          <a:solidFill>
            <a:srgbClr val="E8623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6291072" y="2441865"/>
            <a:ext cx="3063240" cy="475488"/>
          </a:xfrm>
          <a:prstGeom prst="roundRect">
            <a:avLst>
              <a:gd name="adj" fmla="val 13462"/>
            </a:avLst>
          </a:prstGeom>
          <a:solidFill>
            <a:srgbClr val="2023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6291072" y="2441865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◀ 최적점 — 몰입·쾌감이 최대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645920" y="4224528"/>
            <a:ext cx="28968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지루함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645920" y="4535424"/>
            <a:ext cx="289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자극 부족 · 관심 없음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542739" y="4224528"/>
            <a:ext cx="29846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 구간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542739" y="4535424"/>
            <a:ext cx="2984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즐겁고 몰입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527341" y="4224528"/>
            <a:ext cx="28968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과부하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527341" y="4535424"/>
            <a:ext cx="289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불안 · 피로 · 이탈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645920" y="4956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자극의 세기  →  </a:t>
            </a:r>
            <a:r>
              <a:rPr lang="en-US" sz="1250" dirty="0">
                <a:solidFill>
                  <a:srgbClr val="555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각성 잠재력 (새로움 · 복잡성 · 놀라움 · 불일치)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640" y="5413248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2023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914400" y="5413248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2B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미디어에 주는 함의:  </a:t>
            </a:r>
            <a:r>
              <a:rPr lang="en-US" sz="1450" dirty="0">
                <a:solidFill>
                  <a:srgbClr val="E7E9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숏폼·광고는 새롭고 놀라울수록 주목받지만, 과하면 피로·이탈. 목표는 '최대'가 아니라 </a:t>
            </a:r>
            <a:r>
              <a:rPr lang="en-US" sz="1450" b="1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'최적'</a:t>
            </a:r>
            <a:r>
              <a:rPr lang="en-US" sz="1450" dirty="0">
                <a:solidFill>
                  <a:srgbClr val="E7E9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45720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심화(6주 인지 / 11주 몰입 삽입용)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57784"/>
            <a:ext cx="146304" cy="146304"/>
          </a:xfrm>
          <a:prstGeom prst="ellipse">
            <a:avLst/>
          </a:prstGeom>
          <a:solidFill>
            <a:srgbClr val="E86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4846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NOW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1381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지금, 경험이 더 중요한가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E9EE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과잉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550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스펙·정보는 검색 한 번이면 넘칩니다.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96596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BEBE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주목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606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희소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492240" y="36118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4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홍수·숏폼 시대, 사람의 관심은 귀합니다.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2023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14400" y="457200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차별점은 '경험'. </a:t>
            </a: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경험은 '있으면 좋은 것'이 아니라, 브랜드의 생존 조건입니다.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1주차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0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21140" y="914400"/>
            <a:ext cx="2743200" cy="2743200"/>
          </a:xfrm>
          <a:prstGeom prst="ellipse">
            <a:avLst/>
          </a:prstGeom>
          <a:solidFill>
            <a:srgbClr val="3D5A80">
              <a:alpha val="4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218420" y="914400"/>
            <a:ext cx="2743200" cy="2743200"/>
          </a:xfrm>
          <a:prstGeom prst="ellipse">
            <a:avLst/>
          </a:prstGeom>
          <a:solidFill>
            <a:srgbClr val="E8623D">
              <a:alpha val="4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F2B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· 다음 주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CC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— 홀브룩·허쉬만: “경험이 있다”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 — 파인 &amp; 길모어:  </a:t>
            </a:r>
            <a:r>
              <a:rPr lang="en-US" sz="3000" b="1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“경험이 곧 돈이다”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AEB3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 경제(Experience Economy) — 상품에서 서비스, 그리고 경험으로.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10515600" cy="1600200"/>
          </a:xfrm>
          <a:prstGeom prst="roundRect">
            <a:avLst>
              <a:gd name="adj" fmla="val 5714"/>
            </a:avLst>
          </a:prstGeom>
          <a:solidFill>
            <a:srgbClr val="2A2E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43000" y="4297680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E862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143000" y="4297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4846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7E9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아이스브레이킹에서 고른 콘텐츠를, “왜 경험형인지” 한 문단으로 정리해 오기.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1658</Words>
  <Application>Microsoft Macintosh PowerPoint</Application>
  <PresentationFormat>와이드스크린</PresentationFormat>
  <Paragraphs>228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성수 오</cp:lastModifiedBy>
  <cp:revision>4</cp:revision>
  <dcterms:created xsi:type="dcterms:W3CDTF">2026-07-17T00:06:52Z</dcterms:created>
  <dcterms:modified xsi:type="dcterms:W3CDTF">2026-07-17T01:55:41Z</dcterms:modified>
</cp:coreProperties>
</file>