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20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3주차 시작. 15주 강의에서 이론의 중심 기둥이 시작되는 지점. 홀브룩(경험이 있다)·파인길모어(경험이 돈이다)에 이어, 오늘 슈미트는 '경험을 어떻게 설계·구현하는가'에 답한다. 3주차는 SEM 전체 지도를 그리는 개관이고, 각 모듈 심화는 4~8주, 통합은 9주.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계보 복습. 홀브룩=학자(경험이 있다, 3F), 파인길모어=경영자(경험이 돈이다, 4E), 슈미트=설계자(경험을 어떻게, SEM). 앞이 '왜/무엇'이면 슈미트는 '어떻게'. 오늘 카드만 코랄로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훅 + 전통 vs 체험 마케팅 대비. 왼쪽(쿨=정보)/오른쪽(웜=경험) 색규칙. 1주차 홀브룩의 정보처리 vs 경험 대비를 실무 버전으로 다시 세운 것. 강의팁: '스펙 때문에 산 것 하나, 느낌 때문에 산 것 하나' 즉석 질문.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슈미트 3~9주 앵커 저자 소개. 핵심 원전 두 가지(1999 논문=프레임 압축 / 1999 단행본=사례로 완성). 연결 저작: Marketing Aesthetics=SENSE 뿌리, CEM=실행론. 지적 뿌리는 듀이의 경험 분석. 판본은 도서관에서 확인 권장.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히어로. 다섯 모듈=마케터가 겨냥하는 다섯 심리 층위(전략 목표). 각 카드에 심화주차 뱃지. SENSE 4주 / FEEL 5주 / THINK 6주 / ACT 7주 / RELATE 8주, 9주 통합. 오늘은 지도만 그린다.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모듈의 핵심 뉘앙스 + 원 대표사례. SENSE=심미학/S-P-C, FEEL=무드vs강한감정, THINK=확산·수렴사고·분트곡선, ACT=다른 삶의 방식, RELATE=사회적 정체성·팬덤. 대표사례는 원 사례이며, 강의 직전 오성수 실무사례로 보강.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ExPros=SEM을 구현하는 전술 도구 7가지. 핵심 원리: 다섯 경험 중 무엇이든 일곱 제공수단 중 무엇으로도 구현 가능. 전자매체는 오늘날 앱·소셜·숏폼까지 확장해석. 사람은 가장 강력하나 통제 어려움. 관리 3원칙(일관·지속·디테일)이 경험을 하나로 묶는다.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그리드 읽는 법: 세로 SEM 5 × 가로 ExPros 7 = 35칸. 칠해진 칸은 예시(감각×공간환경, 관계×공동브랜딩). 두 전략 이슈: 강도(강화/희석), 폭(풍부/단순), 그리고 어떤 SEM을 중심에 둘지. 다음 장에서 스타벅스로 채운 실제 그리드를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슈미트의 궁극 지향점=통합·홀리스틱 경험. 다섯 모듈을 동시에 담는 '경험 하이브리드'를 설계하며 도구가 Experiential Wheel. 원전 사례는 뉴 비틀·소니. 이 통합 논의가 9주차 모듈 통합의 핵심. 휠은 개념도로 직접 작도(저작권 안전).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계보 정리. 홀브룩→파인길모어→슈미트. 4E는 고객의 참여 방식, SEM은 마케터가 겨냥하는 심리 층위 — 같은 현상을 다르게 자른다. 강의 위치: 4E=2주, SEM=3~9주.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12주 방어선. Brakus et al.(2009) 브랜드 경험 4차원(감각·정서·지성·행동)=슈미트 SENSE·FEEL·THINK·ACT의 측정 조작화·검증. RELATE는 흡수·축소. 실무 프레임→측정 척도로 이어지는 다리. 이론이 1982→1998→1999→2009로 이어지는 척추임을 각인.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[실무 사례 자리 — 비워둠] 학생이 고른 브랜드/채널을 5 SEM으로 분해 + 어떤 ExPro로 구현했는지. 어느 칸이 비었는지가 전략적 공백. 강의 직전 오성수 30년 실무 사례로 교체·보강 — 이 교체가 강의의 차별점.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SEM 개관(5모듈+7제공수단+그리드)에서 다음 주 4주 SENSE 심화로. 3~9주 로드맵 각인(3 개관→4 SENSE→5 FEEL→6 THINK→7 ACT→8 RELATE→9 통합). 과제: 최근 브랜드 경험을 5 SEM 분해 + ExPro 매핑 한 문단.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경험 그리드: 세로=SEM 5개(전략, 무슨 경험), 가로=ExPros 7개(전술, 무엇으로). 핵심 = 어떤 경험이든 어떤 제공수단으로도 구현 가능. 칠해진 칸은 스타벅스 예시 — 실습으로 학생들이 자기 브랜드의 빈 칸을 채우게 하면 좋다. 관리 3원칙(일관·지속·디테일)이 그리드를 살린다.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554480"/>
            <a:ext cx="3383280" cy="3383280"/>
          </a:xfrm>
          <a:prstGeom prst="ellipse">
            <a:avLst/>
          </a:prstGeom>
          <a:solidFill>
            <a:srgbClr val="3D5A8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38360" y="1554480"/>
            <a:ext cx="3383280" cy="3383280"/>
          </a:xfrm>
          <a:prstGeom prst="ellipse">
            <a:avLst/>
          </a:prstGeom>
          <a:solidFill>
            <a:srgbClr val="BE4A28">
              <a:alpha val="6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34440"/>
            <a:ext cx="960120" cy="457200"/>
          </a:xfrm>
          <a:prstGeom prst="roundRect">
            <a:avLst>
              <a:gd name="adj" fmla="val 16000"/>
            </a:avLst>
          </a:prstGeom>
          <a:solidFill>
            <a:srgbClr val="E862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1874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 슈미트의 SEM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9CE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홀브룩이 </a:t>
            </a:r>
            <a:pPr algn="l" indent="0" marL="0">
              <a:lnSpc>
                <a:spcPct val="120000"/>
              </a:lnSpc>
              <a:buNone/>
            </a:pPr>
            <a:r>
              <a:rPr lang="en-US" sz="1600" b="1" i="1" dirty="0">
                <a:solidFill>
                  <a:srgbClr val="C9CE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“경험이 있다”</a:t>
            </a:r>
            <a:pPr algn="l"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9CE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파인·길모어가 </a:t>
            </a:r>
            <a:pPr algn="l" indent="0" marL="0">
              <a:lnSpc>
                <a:spcPct val="120000"/>
              </a:lnSpc>
              <a:buNone/>
            </a:pPr>
            <a:r>
              <a:rPr lang="en-US" sz="1600" b="1" i="1" dirty="0">
                <a:solidFill>
                  <a:srgbClr val="C9CE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“경험이 돈이다”</a:t>
            </a:r>
            <a:pPr algn="l"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9CE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말했다면 — 슈미트는 </a:t>
            </a:r>
            <a:pPr algn="l" indent="0" marL="0">
              <a:lnSpc>
                <a:spcPct val="120000"/>
              </a:lnSpc>
              <a:buNone/>
            </a:pPr>
            <a:r>
              <a:rPr lang="en-US" sz="1600" b="1" i="1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“경험을 어떻게 만드나”</a:t>
            </a:r>
            <a:pPr algn="l"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9CE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답한다.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4892040"/>
            <a:ext cx="4572000" cy="0"/>
          </a:xfrm>
          <a:prstGeom prst="line">
            <a:avLst/>
          </a:prstGeom>
          <a:noFill/>
          <a:ln w="12700">
            <a:solidFill>
              <a:srgbClr val="4A4E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074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EB4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Schmitt (1999) · Experiential Marketing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413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EB4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 ·  오성수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89204"/>
            <a:ext cx="118872" cy="118872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RECAP → TODAY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'왜·무엇'에서 '어떻게'로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3246120" cy="2697480"/>
          </a:xfrm>
          <a:prstGeom prst="roundRect">
            <a:avLst>
              <a:gd name="adj" fmla="val 2034"/>
            </a:avLst>
          </a:prstGeom>
          <a:solidFill>
            <a:srgbClr val="E9EEF4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8600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3D5A8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 · 학자의 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홀브룩 &amp; 허쉬만 (1982)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“경험이 있다”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3F · 환상 · 감정 · 재미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30752" y="299466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480560" y="1965960"/>
            <a:ext cx="3246120" cy="2697480"/>
          </a:xfrm>
          <a:prstGeom prst="roundRect">
            <a:avLst>
              <a:gd name="adj" fmla="val 2034"/>
            </a:avLst>
          </a:prstGeom>
          <a:solidFill>
            <a:srgbClr val="E9EE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800600" y="228600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3D5A80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 · 경영자의 눈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926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파인 &amp; 길모어 (1998)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3383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“경험이 돈이다”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00600" y="4023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4E · 경험의 종류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08392" y="299466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8458200" y="1965960"/>
            <a:ext cx="3246120" cy="2697480"/>
          </a:xfrm>
          <a:prstGeom prst="roundRect">
            <a:avLst>
              <a:gd name="adj" fmla="val 2034"/>
            </a:avLst>
          </a:prstGeom>
          <a:solidFill>
            <a:srgbClr val="E8623D"/>
          </a:solidFill>
          <a:ln/>
        </p:spPr>
      </p:sp>
      <p:sp>
        <p:nvSpPr>
          <p:cNvPr id="20" name="Shape 18"/>
          <p:cNvSpPr/>
          <p:nvPr/>
        </p:nvSpPr>
        <p:spPr>
          <a:xfrm>
            <a:off x="8778240" y="2286000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 · 설계자의 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78240" y="2926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 슈미트 (1999)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78240" y="3383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“경험을 어떻게 만드나”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778240" y="4023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BEB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 · 5 전략적 경험 모듈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5074920"/>
            <a:ext cx="11201400" cy="960120"/>
          </a:xfrm>
          <a:prstGeom prst="roundRect">
            <a:avLst>
              <a:gd name="adj" fmla="val 5714"/>
            </a:avLst>
          </a:prstGeom>
          <a:solidFill>
            <a:srgbClr val="20233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0749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8DC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두 주가 '왜 · 무엇'을 말했다면, 슈미트는 </a:t>
            </a:r>
            <a:pPr algn="l" indent="0" marL="0">
              <a:buNone/>
            </a:pPr>
            <a:r>
              <a:rPr lang="en-US" sz="1500" b="1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'어떻게'</a:t>
            </a:r>
            <a:pPr algn="l" indent="0" marL="0">
              <a:buNone/>
            </a:pPr>
            <a:r>
              <a:rPr lang="en-US" sz="1500" dirty="0">
                <a:solidFill>
                  <a:srgbClr val="D8DC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경험을 설계 · 구현하는 도구를 준다.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3주차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55680" y="64465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89204"/>
            <a:ext cx="118872" cy="118872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SCHMITT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전통 마케팅은 절반만 설명한다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슈미트의 출발점은 기존 마케팅 비판이다. 소비자는 기능을 계산하는 합리적 존재이자, 동시에 즐거운 경험을 좇는 감정적 존재다.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3D5A8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33172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전통 마케팅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2331720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E8623D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233172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마케팅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008376"/>
            <a:ext cx="5394960" cy="658368"/>
          </a:xfrm>
          <a:prstGeom prst="roundRect">
            <a:avLst>
              <a:gd name="adj" fmla="val 5556"/>
            </a:avLst>
          </a:prstGeom>
          <a:solidFill>
            <a:srgbClr val="E9EEF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0837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· 편익(features &amp; benefits) 중심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3008376"/>
            <a:ext cx="5394960" cy="658368"/>
          </a:xfrm>
          <a:prstGeom prst="roundRect">
            <a:avLst>
              <a:gd name="adj" fmla="val 5556"/>
            </a:avLst>
          </a:prstGeom>
          <a:solidFill>
            <a:srgbClr val="FBEBE3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300837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경험(experiences) 중심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758184"/>
            <a:ext cx="5394960" cy="658368"/>
          </a:xfrm>
          <a:prstGeom prst="roundRect">
            <a:avLst>
              <a:gd name="adj" fmla="val 5556"/>
            </a:avLst>
          </a:prstGeom>
          <a:solidFill>
            <a:srgbClr val="E9EEF4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5818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 = 합리적 의사결정자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758184"/>
            <a:ext cx="5394960" cy="658368"/>
          </a:xfrm>
          <a:prstGeom prst="roundRect">
            <a:avLst>
              <a:gd name="adj" fmla="val 5556"/>
            </a:avLst>
          </a:prstGeom>
          <a:solidFill>
            <a:srgbClr val="FBEBE3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75818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소비자 = 합리적이며 동시에 감정적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507992"/>
            <a:ext cx="5394960" cy="658368"/>
          </a:xfrm>
          <a:prstGeom prst="roundRect">
            <a:avLst>
              <a:gd name="adj" fmla="val 5556"/>
            </a:avLst>
          </a:prstGeom>
          <a:solidFill>
            <a:srgbClr val="E9EEF4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50799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범주를 좁게 정의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4507992"/>
            <a:ext cx="5394960" cy="658368"/>
          </a:xfrm>
          <a:prstGeom prst="roundRect">
            <a:avLst>
              <a:gd name="adj" fmla="val 5556"/>
            </a:avLst>
          </a:prstGeom>
          <a:solidFill>
            <a:srgbClr val="FBEBE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50799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소비를 총체적 경험 상황으로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5257800"/>
            <a:ext cx="5394960" cy="658368"/>
          </a:xfrm>
          <a:prstGeom prst="roundRect">
            <a:avLst>
              <a:gd name="adj" fmla="val 5556"/>
            </a:avLst>
          </a:prstGeom>
          <a:solidFill>
            <a:srgbClr val="E9EEF4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25780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기능적 가치 · 속성 비교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5257800"/>
            <a:ext cx="5394960" cy="658368"/>
          </a:xfrm>
          <a:prstGeom prst="roundRect">
            <a:avLst>
              <a:gd name="adj" fmla="val 5556"/>
            </a:avLst>
          </a:prstGeom>
          <a:solidFill>
            <a:srgbClr val="FBEBE3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525780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감각 · 감성 · 인지 · 행동 · 관계의 가치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60807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홀브룩의 '정보처리 vs 경험'</a:t>
            </a:r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브랜드 전략의 실행 도구로 바꾼 것 — 학문이 연 문을 슈미트가 도구로.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3주차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55680" y="64465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89204"/>
            <a:ext cx="118872" cy="118872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SOURCE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· 무엇을 — 슈미트와 원전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074920" cy="1965960"/>
          </a:xfrm>
          <a:prstGeom prst="roundRect">
            <a:avLst>
              <a:gd name="adj" fmla="val 2791"/>
            </a:avLst>
          </a:prstGeom>
          <a:solidFill>
            <a:srgbClr val="E9EEF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 슈미트 (Bernd H. Schmitt)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컬럼비아 경영대학원 마케팅 교수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브랜드 관리 센터 디렉터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977640"/>
            <a:ext cx="5074920" cy="1965960"/>
          </a:xfrm>
          <a:prstGeom prst="roundRect">
            <a:avLst>
              <a:gd name="adj" fmla="val 2791"/>
            </a:avLst>
          </a:prstGeom>
          <a:solidFill>
            <a:srgbClr val="FBEBE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뿌리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4526280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모듈 구분은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듀이(1925)의 경험 분석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기반하며, 심리학의 감각 · 정서 · 인지 · 행동 · 관계 구분과 대응한다.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52160" y="1783080"/>
            <a:ext cx="5852160" cy="1234440"/>
          </a:xfrm>
          <a:prstGeom prst="roundRect">
            <a:avLst>
              <a:gd name="adj" fmla="val 4444"/>
            </a:avLst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9659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 </a:t>
            </a:r>
            <a:pPr indent="0" marL="0">
              <a:buNone/>
            </a:pPr>
            <a:r>
              <a:rPr lang="en-US" sz="130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Experiential Marketing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Journal of Marketing Management (1999)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24871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프레임을 압축한 원전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52160" y="3154680"/>
            <a:ext cx="5852160" cy="1417320"/>
          </a:xfrm>
          <a:prstGeom prst="roundRect">
            <a:avLst>
              <a:gd name="adj" fmla="val 3871"/>
            </a:avLst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331012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단행본  </a:t>
            </a:r>
            <a:pPr indent="0" marL="0">
              <a:buNone/>
            </a:pPr>
            <a:r>
              <a:rPr lang="en-US" sz="130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Experiential Marketing (Free Press, 1999)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37033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to Get Customers to Sense, Feel, Think, Act, and Relate — 사례로 완성한 실무서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4709160"/>
            <a:ext cx="5852160" cy="1234440"/>
          </a:xfrm>
          <a:prstGeom prst="roundRect">
            <a:avLst>
              <a:gd name="adj" fmla="val 4444"/>
            </a:avLst>
          </a:prstGeom>
          <a:solidFill>
            <a:srgbClr val="E9EEF4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저작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5138928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Marketing Aesthetics (1997)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SENSE의 뿌리
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Customer Experience Management (2003)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실행론으로 확장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498080" y="60533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Schmitt(1999) 참고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3주차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4465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89204"/>
            <a:ext cx="118872" cy="118872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FIVE MODULES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 — 다섯 전략적 경험 모듈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마케터가 고객에게 창출할 수 있는 다섯 유형의 경험. 각 모듈 = '무슨 경험을 만들 것인가'라는 전략 목표.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137867" cy="3154680"/>
          </a:xfrm>
          <a:prstGeom prst="roundRect">
            <a:avLst>
              <a:gd name="adj" fmla="val 2139"/>
            </a:avLst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4966" y="2441448"/>
            <a:ext cx="402336" cy="402336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8" name="Text 6"/>
          <p:cNvSpPr/>
          <p:nvPr/>
        </p:nvSpPr>
        <p:spPr>
          <a:xfrm>
            <a:off x="1324966" y="2441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19549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48640" y="3355848"/>
            <a:ext cx="19549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" y="3794760"/>
            <a:ext cx="173553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오감에 호소하는 감각적 경험. 미적 즐거움 · 흥분 · 차별화.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23214" y="4846320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E9EEF4"/>
          </a:solidFill>
          <a:ln/>
        </p:spPr>
      </p:sp>
      <p:sp>
        <p:nvSpPr>
          <p:cNvPr id="13" name="Text 11"/>
          <p:cNvSpPr/>
          <p:nvPr/>
        </p:nvSpPr>
        <p:spPr>
          <a:xfrm>
            <a:off x="1023214" y="48463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4주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1371" y="2148840"/>
            <a:ext cx="2137867" cy="3154680"/>
          </a:xfrm>
          <a:prstGeom prst="roundRect">
            <a:avLst>
              <a:gd name="adj" fmla="val 2139"/>
            </a:avLst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09137" y="2441448"/>
            <a:ext cx="402336" cy="402336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16" name="Text 14"/>
          <p:cNvSpPr/>
          <p:nvPr/>
        </p:nvSpPr>
        <p:spPr>
          <a:xfrm>
            <a:off x="3609137" y="2441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832811" y="2971800"/>
            <a:ext cx="19549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FEEL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832811" y="3355848"/>
            <a:ext cx="19549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감성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942539" y="3794760"/>
            <a:ext cx="173553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브랜드와 연결된 가벼운 기분부터 기쁨 · 자부심 같은 강한 감정까지.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07385" y="4846320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E9EEF4"/>
          </a:solidFill>
          <a:ln/>
        </p:spPr>
      </p:sp>
      <p:sp>
        <p:nvSpPr>
          <p:cNvPr id="21" name="Text 19"/>
          <p:cNvSpPr/>
          <p:nvPr/>
        </p:nvSpPr>
        <p:spPr>
          <a:xfrm>
            <a:off x="3307385" y="48463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5주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5542" y="2148840"/>
            <a:ext cx="2137867" cy="3154680"/>
          </a:xfrm>
          <a:prstGeom prst="roundRect">
            <a:avLst>
              <a:gd name="adj" fmla="val 2139"/>
            </a:avLst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3308" y="2441448"/>
            <a:ext cx="402336" cy="402336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24" name="Text 22"/>
          <p:cNvSpPr/>
          <p:nvPr/>
        </p:nvSpPr>
        <p:spPr>
          <a:xfrm>
            <a:off x="5893308" y="2441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116982" y="2971800"/>
            <a:ext cx="19549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116982" y="3355848"/>
            <a:ext cx="19549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226710" y="3794760"/>
            <a:ext cx="173553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창의적 · 인지적 경험. 호기심 · 놀라움으로 사고를 자극.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591556" y="4846320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E9EEF4"/>
          </a:solidFill>
          <a:ln/>
        </p:spPr>
      </p:sp>
      <p:sp>
        <p:nvSpPr>
          <p:cNvPr id="29" name="Text 27"/>
          <p:cNvSpPr/>
          <p:nvPr/>
        </p:nvSpPr>
        <p:spPr>
          <a:xfrm>
            <a:off x="5591556" y="48463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6주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09714" y="2148840"/>
            <a:ext cx="2137867" cy="3154680"/>
          </a:xfrm>
          <a:prstGeom prst="roundRect">
            <a:avLst>
              <a:gd name="adj" fmla="val 2139"/>
            </a:avLst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77479" y="2441448"/>
            <a:ext cx="402336" cy="402336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32" name="Text 30"/>
          <p:cNvSpPr/>
          <p:nvPr/>
        </p:nvSpPr>
        <p:spPr>
          <a:xfrm>
            <a:off x="8177479" y="2441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401154" y="2971800"/>
            <a:ext cx="19549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7401154" y="3355848"/>
            <a:ext cx="19549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510882" y="3794760"/>
            <a:ext cx="173553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신체 · 라이프스타일 · 상호작용. '다른 삶의 방식'을 제안.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875727" y="4846320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E9EEF4"/>
          </a:solidFill>
          <a:ln/>
        </p:spPr>
      </p:sp>
      <p:sp>
        <p:nvSpPr>
          <p:cNvPr id="37" name="Text 35"/>
          <p:cNvSpPr/>
          <p:nvPr/>
        </p:nvSpPr>
        <p:spPr>
          <a:xfrm>
            <a:off x="7875727" y="48463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7주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593885" y="2148840"/>
            <a:ext cx="2137867" cy="3154680"/>
          </a:xfrm>
          <a:prstGeom prst="roundRect">
            <a:avLst>
              <a:gd name="adj" fmla="val 2139"/>
            </a:avLst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461650" y="2441448"/>
            <a:ext cx="402336" cy="402336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0" name="Text 38"/>
          <p:cNvSpPr/>
          <p:nvPr/>
        </p:nvSpPr>
        <p:spPr>
          <a:xfrm>
            <a:off x="10461650" y="2441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685325" y="2971800"/>
            <a:ext cx="19549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RELATE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9685325" y="3355848"/>
            <a:ext cx="19549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795053" y="3794760"/>
            <a:ext cx="1735531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준거집단 · 문화와 관계 맺는 사회적 정체성 · 소속 · 커뮤니티.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10159898" y="4846320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E9EEF4"/>
          </a:solidFill>
          <a:ln/>
        </p:spPr>
      </p:sp>
      <p:sp>
        <p:nvSpPr>
          <p:cNvPr id="45" name="Text 43"/>
          <p:cNvSpPr/>
          <p:nvPr/>
        </p:nvSpPr>
        <p:spPr>
          <a:xfrm>
            <a:off x="10159898" y="48463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 8주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2920" y="55321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다섯을 개관하고, 각 모듈 심화는 4~8주에 하나씩 — 9주차에서 다섯을 통합한다.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3주차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155680" y="64465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89204"/>
            <a:ext cx="118872" cy="118872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MODULE BY MODULE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모듈별 개관 포인트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965960" cy="786384"/>
          </a:xfrm>
          <a:prstGeom prst="roundRect">
            <a:avLst>
              <a:gd name="adj" fmla="val 5814"/>
            </a:avLst>
          </a:prstGeom>
          <a:solidFill>
            <a:srgbClr val="E8623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8928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221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EB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97480" y="185623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심미학의 연장 · 자극-과정-결과(S-P-C)로 감각 자극을 관리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0" y="1783080"/>
            <a:ext cx="2103120" cy="786384"/>
          </a:xfrm>
          <a:prstGeom prst="roundRect">
            <a:avLst>
              <a:gd name="adj" fmla="val 5814"/>
            </a:avLst>
          </a:prstGeom>
          <a:solidFill>
            <a:srgbClr val="E9EEF4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0" y="18745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사례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0" y="21122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노키아 · 헤네시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697480"/>
            <a:ext cx="1965960" cy="786384"/>
          </a:xfrm>
          <a:prstGeom prst="roundRect">
            <a:avLst>
              <a:gd name="adj" fmla="val 5814"/>
            </a:avLst>
          </a:prstGeom>
          <a:solidFill>
            <a:srgbClr val="E8623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8072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31363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EB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277063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가벼운 무드 ↔ 강한 감정의 구분이 핵심 · 광고의 정서 '강도' 조절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01200" y="2697480"/>
            <a:ext cx="2103120" cy="786384"/>
          </a:xfrm>
          <a:prstGeom prst="roundRect">
            <a:avLst>
              <a:gd name="adj" fmla="val 5814"/>
            </a:avLst>
          </a:prstGeom>
          <a:solidFill>
            <a:srgbClr val="E9EEF4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27889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사례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0" y="30266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홀마크 · 하겐다즈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611880"/>
            <a:ext cx="1965960" cy="786384"/>
          </a:xfrm>
          <a:prstGeom prst="roundRect">
            <a:avLst>
              <a:gd name="adj" fmla="val 5814"/>
            </a:avLst>
          </a:prstGeom>
          <a:solidFill>
            <a:srgbClr val="E8623D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7216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40507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EB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97480" y="368503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확산적 · 수렴적 사고 · '놀라움 · 흥미 · 도발'로 사고를 유발 (분트 곡선 연결)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601200" y="3611880"/>
            <a:ext cx="2103120" cy="786384"/>
          </a:xfrm>
          <a:prstGeom prst="roundRect">
            <a:avLst>
              <a:gd name="adj" fmla="val 5814"/>
            </a:avLst>
          </a:prstGeom>
          <a:solidFill>
            <a:srgbClr val="E9EEF4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0" y="37033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사례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601200" y="39410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애플 · 지멘스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4526280"/>
            <a:ext cx="1965960" cy="786384"/>
          </a:xfrm>
          <a:prstGeom prst="roundRect">
            <a:avLst>
              <a:gd name="adj" fmla="val 5814"/>
            </a:avLst>
          </a:prstGeom>
          <a:solidFill>
            <a:srgbClr val="E8623D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6360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920" y="49651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EB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97480" y="459943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제품이 아니라 '다른 삶의 방식'을 제안 · 신체 경험 · 라이프스타일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601200" y="4526280"/>
            <a:ext cx="2103120" cy="786384"/>
          </a:xfrm>
          <a:prstGeom prst="roundRect">
            <a:avLst>
              <a:gd name="adj" fmla="val 5814"/>
            </a:avLst>
          </a:prstGeom>
          <a:solidFill>
            <a:srgbClr val="E9EEF4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0" y="46177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사례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601200" y="48554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질레트 마하3 · 밀크 머스태시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5440680"/>
            <a:ext cx="1965960" cy="786384"/>
          </a:xfrm>
          <a:prstGeom prst="roundRect">
            <a:avLst>
              <a:gd name="adj" fmla="val 5814"/>
            </a:avLst>
          </a:prstGeom>
          <a:solidFill>
            <a:srgbClr val="E8623D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55504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RELATE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02920" y="58795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EB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697480" y="551383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개인을 넘어 준거집단 · 커뮤니티로 · 사회적 범주화와 정체성 · 팬덤을 설명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601200" y="5440680"/>
            <a:ext cx="2103120" cy="786384"/>
          </a:xfrm>
          <a:prstGeom prst="roundRect">
            <a:avLst>
              <a:gd name="adj" fmla="val 5814"/>
            </a:avLst>
          </a:prstGeom>
          <a:solidFill>
            <a:srgbClr val="E9EEF4"/>
          </a:solidFill>
          <a:ln/>
        </p:spPr>
      </p:sp>
      <p:sp>
        <p:nvSpPr>
          <p:cNvPr id="38" name="Text 36"/>
          <p:cNvSpPr/>
          <p:nvPr/>
        </p:nvSpPr>
        <p:spPr>
          <a:xfrm>
            <a:off x="9601200" y="55321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사례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601200" y="57698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할리데이비슨 · 타미힐피거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3주차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155680" y="64465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89204"/>
            <a:ext cx="118872" cy="118872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SEVEN PROVIDERS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ExPros — 일곱 경험 제공수단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 = '무슨 경험(전략)'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/  </a:t>
            </a:r>
            <a:pPr indent="0" marL="0">
              <a:buNone/>
            </a:pPr>
            <a:r>
              <a:rPr lang="en-US" sz="1300" b="1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ExPros = '무엇으로 구현(전술)'</a:t>
            </a:r>
            <a:pPr indent="0" marL="0">
              <a:buNone/>
            </a:pPr>
            <a:r>
              <a:rPr lang="en-US" sz="13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 다섯 경험 어느 것이든, 일곱 제공수단 어느 것으로도 구현할 수 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688336" cy="1572768"/>
          </a:xfrm>
          <a:prstGeom prst="roundRect">
            <a:avLst>
              <a:gd name="adj" fmla="val 2907"/>
            </a:avLst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3500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3D5A8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233172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커뮤니케이션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76656" y="2898648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 · PR · 브로슈어 · 뉴스레터 · 매거로그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28416" y="2148840"/>
            <a:ext cx="2688336" cy="1572768"/>
          </a:xfrm>
          <a:prstGeom prst="roundRect">
            <a:avLst>
              <a:gd name="adj" fmla="val 2907"/>
            </a:avLst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9584" y="23500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3D5A80"/>
          </a:solidFill>
          <a:ln/>
        </p:spPr>
      </p:sp>
      <p:sp>
        <p:nvSpPr>
          <p:cNvPr id="13" name="Text 11"/>
          <p:cNvSpPr/>
          <p:nvPr/>
        </p:nvSpPr>
        <p:spPr>
          <a:xfrm>
            <a:off x="3529584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41648" y="233172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시각·언어 아이덴티티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47872" y="2898648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브랜드명 · 로고 · 마크 · 간판 · 사이니지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9632" y="2148840"/>
            <a:ext cx="2688336" cy="1572768"/>
          </a:xfrm>
          <a:prstGeom prst="roundRect">
            <a:avLst>
              <a:gd name="adj" fmla="val 2907"/>
            </a:avLst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3500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3D5A8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12864" y="233172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외형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19088" y="2898648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· 패키징 · 캐릭터 · 마스코트 · 진열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70848" y="2148840"/>
            <a:ext cx="2688336" cy="1572768"/>
          </a:xfrm>
          <a:prstGeom prst="roundRect">
            <a:avLst>
              <a:gd name="adj" fmla="val 2907"/>
            </a:avLst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72016" y="2350008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3D5A80"/>
          </a:solidFill>
          <a:ln/>
        </p:spPr>
      </p:sp>
      <p:sp>
        <p:nvSpPr>
          <p:cNvPr id="23" name="Text 21"/>
          <p:cNvSpPr/>
          <p:nvPr/>
        </p:nvSpPr>
        <p:spPr>
          <a:xfrm>
            <a:off x="9272016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84080" y="233172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 브랜딩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290304" y="2898648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· 스폰서십 · 제휴 · 라이선싱 · PPL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922776"/>
            <a:ext cx="2688336" cy="1572768"/>
          </a:xfrm>
          <a:prstGeom prst="roundRect">
            <a:avLst>
              <a:gd name="adj" fmla="val 2907"/>
            </a:avLst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1239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3D5A80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70432" y="4105656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환경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76656" y="4672584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· 리테일 · 부스 · 사무 · 공장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28416" y="3922776"/>
            <a:ext cx="2688336" cy="1572768"/>
          </a:xfrm>
          <a:prstGeom prst="roundRect">
            <a:avLst>
              <a:gd name="adj" fmla="val 2907"/>
            </a:avLst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9584" y="41239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E8623D"/>
          </a:solidFill>
          <a:ln/>
        </p:spPr>
      </p:sp>
      <p:sp>
        <p:nvSpPr>
          <p:cNvPr id="33" name="Text 31"/>
          <p:cNvSpPr/>
          <p:nvPr/>
        </p:nvSpPr>
        <p:spPr>
          <a:xfrm>
            <a:off x="3529584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041648" y="4105656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전자매체 · 웹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3547872" y="4672584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· 이메일 · (앱 · 소셜 · 숏폼 · 확장해석)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99632" y="3922776"/>
            <a:ext cx="2688336" cy="1572768"/>
          </a:xfrm>
          <a:prstGeom prst="roundRect">
            <a:avLst>
              <a:gd name="adj" fmla="val 2907"/>
            </a:avLst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412394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3D5A80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12864" y="4105656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419088" y="4672584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 · 서비스 · 고객접점 (가장 강력, 통제 난이)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070848" y="3922776"/>
            <a:ext cx="2688336" cy="1572768"/>
          </a:xfrm>
          <a:prstGeom prst="roundRect">
            <a:avLst>
              <a:gd name="adj" fmla="val 2907"/>
            </a:avLst>
          </a:prstGeom>
          <a:solidFill>
            <a:srgbClr val="FBEBE3"/>
          </a:solidFill>
          <a:ln/>
        </p:spPr>
      </p:sp>
      <p:sp>
        <p:nvSpPr>
          <p:cNvPr id="42" name="Text 40"/>
          <p:cNvSpPr/>
          <p:nvPr/>
        </p:nvSpPr>
        <p:spPr>
          <a:xfrm>
            <a:off x="9290304" y="4087368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3원칙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290304" y="4471416"/>
            <a:ext cx="2267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일관되게  </a:t>
            </a:r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지속적으로  </a:t>
            </a:r>
            <a:pPr algn="l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디테일까지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 · 광고 · 매장 · 직원 · 웹이 따로 놀면 경험은 분열된다 — 2주차 '긍정 단서 조화 / 부정 단서 제거'와 같은 원리.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3주차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155680" y="64465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89204"/>
            <a:ext cx="118872" cy="118872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GRID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 그리드 — 전략과 전술을 잇다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세로 5 SEM(전략) × 가로 7 ExPros(전술) = 35칸</a:t>
            </a:r>
            <a:pPr indent="0" marL="0">
              <a:buNone/>
            </a:pPr>
            <a:r>
              <a:rPr lang="en-US" sz="13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 각 칸은 '감각 경험을 공간으로', '관계 경험을 공동브랜딩으로' 같은 구체적 실행 조합.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26771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 ↓ / ExPros →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0" y="2267712"/>
            <a:ext cx="1234440" cy="329184"/>
          </a:xfrm>
          <a:prstGeom prst="roundRect">
            <a:avLst>
              <a:gd name="adj" fmla="val 11111"/>
            </a:avLst>
          </a:prstGeom>
          <a:solidFill>
            <a:srgbClr val="3D5A80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226771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35224" y="2267712"/>
            <a:ext cx="1234440" cy="329184"/>
          </a:xfrm>
          <a:prstGeom prst="roundRect">
            <a:avLst>
              <a:gd name="adj" fmla="val 11111"/>
            </a:avLst>
          </a:prstGeom>
          <a:solidFill>
            <a:srgbClr val="3D5A80"/>
          </a:solidFill>
          <a:ln/>
        </p:spPr>
      </p:sp>
      <p:sp>
        <p:nvSpPr>
          <p:cNvPr id="10" name="Text 8"/>
          <p:cNvSpPr/>
          <p:nvPr/>
        </p:nvSpPr>
        <p:spPr>
          <a:xfrm>
            <a:off x="2935224" y="226771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아이덴티티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24528" y="2267712"/>
            <a:ext cx="1234440" cy="329184"/>
          </a:xfrm>
          <a:prstGeom prst="roundRect">
            <a:avLst>
              <a:gd name="adj" fmla="val 11111"/>
            </a:avLst>
          </a:prstGeom>
          <a:solidFill>
            <a:srgbClr val="3D5A80"/>
          </a:solidFill>
          <a:ln/>
        </p:spPr>
      </p:sp>
      <p:sp>
        <p:nvSpPr>
          <p:cNvPr id="12" name="Text 10"/>
          <p:cNvSpPr/>
          <p:nvPr/>
        </p:nvSpPr>
        <p:spPr>
          <a:xfrm>
            <a:off x="4224528" y="226771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제품외형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13832" y="2267712"/>
            <a:ext cx="1234440" cy="329184"/>
          </a:xfrm>
          <a:prstGeom prst="roundRect">
            <a:avLst>
              <a:gd name="adj" fmla="val 11111"/>
            </a:avLst>
          </a:prstGeom>
          <a:solidFill>
            <a:srgbClr val="3D5A80"/>
          </a:solidFill>
          <a:ln/>
        </p:spPr>
      </p:sp>
      <p:sp>
        <p:nvSpPr>
          <p:cNvPr id="14" name="Text 12"/>
          <p:cNvSpPr/>
          <p:nvPr/>
        </p:nvSpPr>
        <p:spPr>
          <a:xfrm>
            <a:off x="5513832" y="226771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공동브랜딩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03136" y="2267712"/>
            <a:ext cx="1234440" cy="329184"/>
          </a:xfrm>
          <a:prstGeom prst="roundRect">
            <a:avLst>
              <a:gd name="adj" fmla="val 11111"/>
            </a:avLst>
          </a:prstGeom>
          <a:solidFill>
            <a:srgbClr val="3D5A80"/>
          </a:solidFill>
          <a:ln/>
        </p:spPr>
      </p:sp>
      <p:sp>
        <p:nvSpPr>
          <p:cNvPr id="16" name="Text 14"/>
          <p:cNvSpPr/>
          <p:nvPr/>
        </p:nvSpPr>
        <p:spPr>
          <a:xfrm>
            <a:off x="6803136" y="226771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공간환경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92440" y="2267712"/>
            <a:ext cx="1234440" cy="329184"/>
          </a:xfrm>
          <a:prstGeom prst="roundRect">
            <a:avLst>
              <a:gd name="adj" fmla="val 11111"/>
            </a:avLst>
          </a:prstGeom>
          <a:solidFill>
            <a:srgbClr val="3D5A80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226771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전자매체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381744" y="2267712"/>
            <a:ext cx="1234440" cy="329184"/>
          </a:xfrm>
          <a:prstGeom prst="roundRect">
            <a:avLst>
              <a:gd name="adj" fmla="val 11111"/>
            </a:avLst>
          </a:prstGeom>
          <a:solidFill>
            <a:srgbClr val="3D5A80"/>
          </a:solidFill>
          <a:ln/>
        </p:spPr>
      </p:sp>
      <p:sp>
        <p:nvSpPr>
          <p:cNvPr id="20" name="Text 18"/>
          <p:cNvSpPr/>
          <p:nvPr/>
        </p:nvSpPr>
        <p:spPr>
          <a:xfrm>
            <a:off x="9381744" y="226771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2651760"/>
            <a:ext cx="1051560" cy="457200"/>
          </a:xfrm>
          <a:prstGeom prst="roundRect">
            <a:avLst>
              <a:gd name="adj" fmla="val 8000"/>
            </a:avLst>
          </a:prstGeom>
          <a:solidFill>
            <a:srgbClr val="FBEBE3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" y="2651760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감각 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645920" y="2651760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35224" y="2651760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24528" y="2651760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13832" y="2651760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03136" y="2651760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E8623D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65492" y="282549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8092440" y="2651760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81744" y="2651760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163824"/>
            <a:ext cx="1051560" cy="457200"/>
          </a:xfrm>
          <a:prstGeom prst="roundRect">
            <a:avLst>
              <a:gd name="adj" fmla="val 8000"/>
            </a:avLst>
          </a:prstGeom>
          <a:solidFill>
            <a:srgbClr val="FBEBE3"/>
          </a:solidFill>
          <a:ln/>
        </p:spPr>
      </p:sp>
      <p:sp>
        <p:nvSpPr>
          <p:cNvPr id="32" name="Text 30"/>
          <p:cNvSpPr/>
          <p:nvPr/>
        </p:nvSpPr>
        <p:spPr>
          <a:xfrm>
            <a:off x="576072" y="3163824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감성 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FEEL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645920" y="3163824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35224" y="3163824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24528" y="3163824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13832" y="3163824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03136" y="3163824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92440" y="3163824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81744" y="3163824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3675888"/>
            <a:ext cx="1051560" cy="457200"/>
          </a:xfrm>
          <a:prstGeom prst="roundRect">
            <a:avLst>
              <a:gd name="adj" fmla="val 8000"/>
            </a:avLst>
          </a:prstGeom>
          <a:solidFill>
            <a:srgbClr val="FBEBE3"/>
          </a:solidFill>
          <a:ln/>
        </p:spPr>
      </p:sp>
      <p:sp>
        <p:nvSpPr>
          <p:cNvPr id="41" name="Text 39"/>
          <p:cNvSpPr/>
          <p:nvPr/>
        </p:nvSpPr>
        <p:spPr>
          <a:xfrm>
            <a:off x="576072" y="3675888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 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645920" y="3675888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35224" y="3675888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24528" y="3675888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13832" y="3675888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03136" y="3675888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92440" y="3675888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381744" y="3675888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" y="4187952"/>
            <a:ext cx="1051560" cy="457200"/>
          </a:xfrm>
          <a:prstGeom prst="roundRect">
            <a:avLst>
              <a:gd name="adj" fmla="val 8000"/>
            </a:avLst>
          </a:prstGeom>
          <a:solidFill>
            <a:srgbClr val="FBEBE3"/>
          </a:solidFill>
          <a:ln/>
        </p:spPr>
      </p:sp>
      <p:sp>
        <p:nvSpPr>
          <p:cNvPr id="50" name="Text 48"/>
          <p:cNvSpPr/>
          <p:nvPr/>
        </p:nvSpPr>
        <p:spPr>
          <a:xfrm>
            <a:off x="576072" y="4187952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645920" y="4187952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935224" y="4187952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24528" y="4187952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13832" y="4187952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03136" y="4187952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92440" y="4187952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381744" y="4187952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02920" y="4700016"/>
            <a:ext cx="1051560" cy="457200"/>
          </a:xfrm>
          <a:prstGeom prst="roundRect">
            <a:avLst>
              <a:gd name="adj" fmla="val 8000"/>
            </a:avLst>
          </a:prstGeom>
          <a:solidFill>
            <a:srgbClr val="FBEBE3"/>
          </a:solidFill>
          <a:ln/>
        </p:spPr>
      </p:sp>
      <p:sp>
        <p:nvSpPr>
          <p:cNvPr id="59" name="Text 57"/>
          <p:cNvSpPr/>
          <p:nvPr/>
        </p:nvSpPr>
        <p:spPr>
          <a:xfrm>
            <a:off x="576072" y="4700016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  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RELATE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1645920" y="4700016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935224" y="4700016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24528" y="4700016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513832" y="4700016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E8623D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076188" y="4873752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5" name="Shape 63"/>
          <p:cNvSpPr/>
          <p:nvPr/>
        </p:nvSpPr>
        <p:spPr>
          <a:xfrm>
            <a:off x="6803136" y="4700016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092440" y="4700016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381744" y="4700016"/>
            <a:ext cx="1234440" cy="4572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DE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02920" y="5394960"/>
            <a:ext cx="3611880" cy="960120"/>
          </a:xfrm>
          <a:prstGeom prst="roundRect">
            <a:avLst>
              <a:gd name="adj" fmla="val 4762"/>
            </a:avLst>
          </a:prstGeom>
          <a:solidFill>
            <a:srgbClr val="E9EEF4"/>
          </a:solidFill>
          <a:ln/>
        </p:spPr>
      </p:sp>
      <p:sp>
        <p:nvSpPr>
          <p:cNvPr id="69" name="Text 67"/>
          <p:cNvSpPr/>
          <p:nvPr/>
        </p:nvSpPr>
        <p:spPr>
          <a:xfrm>
            <a:off x="704088" y="5504688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강도 (intensity)</a:t>
            </a:r>
            <a:endParaRPr lang="en-US" sz="1250" dirty="0"/>
          </a:p>
        </p:txBody>
      </p:sp>
      <p:sp>
        <p:nvSpPr>
          <p:cNvPr id="70" name="Text 68"/>
          <p:cNvSpPr/>
          <p:nvPr/>
        </p:nvSpPr>
        <p:spPr>
          <a:xfrm>
            <a:off x="704088" y="5797296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강화할까 · 희석할까. 특정 칸을 얼마나 강하게 (예: 홀마크 감성광고의 적정 강도).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4315968" y="5394960"/>
            <a:ext cx="3611880" cy="960120"/>
          </a:xfrm>
          <a:prstGeom prst="roundRect">
            <a:avLst>
              <a:gd name="adj" fmla="val 4762"/>
            </a:avLst>
          </a:prstGeom>
          <a:solidFill>
            <a:srgbClr val="E9EEF4"/>
          </a:solidFill>
          <a:ln/>
        </p:spPr>
      </p:sp>
      <p:sp>
        <p:nvSpPr>
          <p:cNvPr id="72" name="Text 70"/>
          <p:cNvSpPr/>
          <p:nvPr/>
        </p:nvSpPr>
        <p:spPr>
          <a:xfrm>
            <a:off x="4517136" y="5504688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(breadth)</a:t>
            </a:r>
            <a:endParaRPr lang="en-US" sz="1250" dirty="0"/>
          </a:p>
        </p:txBody>
      </p:sp>
      <p:sp>
        <p:nvSpPr>
          <p:cNvPr id="73" name="Text 71"/>
          <p:cNvSpPr/>
          <p:nvPr/>
        </p:nvSpPr>
        <p:spPr>
          <a:xfrm>
            <a:off x="4517136" y="5797296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풍부하게 할까 · 단순화할까. 여러 제공수단에 걸친 관리의 문제.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8129016" y="5394960"/>
            <a:ext cx="3611880" cy="960120"/>
          </a:xfrm>
          <a:prstGeom prst="roundRect">
            <a:avLst>
              <a:gd name="adj" fmla="val 4762"/>
            </a:avLst>
          </a:prstGeom>
          <a:solidFill>
            <a:srgbClr val="E9EEF4"/>
          </a:solidFill>
          <a:ln/>
        </p:spPr>
      </p:sp>
      <p:sp>
        <p:nvSpPr>
          <p:cNvPr id="75" name="Text 73"/>
          <p:cNvSpPr/>
          <p:nvPr/>
        </p:nvSpPr>
        <p:spPr>
          <a:xfrm>
            <a:off x="8330184" y="5504688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중심 SEM</a:t>
            </a:r>
            <a:endParaRPr lang="en-US" sz="1250" dirty="0"/>
          </a:p>
        </p:txBody>
      </p:sp>
      <p:sp>
        <p:nvSpPr>
          <p:cNvPr id="76" name="Text 74"/>
          <p:cNvSpPr/>
          <p:nvPr/>
        </p:nvSpPr>
        <p:spPr>
          <a:xfrm>
            <a:off x="8330184" y="5797296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채우지 말고, 하나의 주된 모듈 + 나머지가 보완하도록 설계.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3주차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1155680" y="64465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89204"/>
            <a:ext cx="118872" cy="118872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HOLISTIC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경험과 Experiential Wheel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46120" y="4069080"/>
            <a:ext cx="0" cy="-1600200"/>
          </a:xfrm>
          <a:prstGeom prst="line">
            <a:avLst/>
          </a:prstGeom>
          <a:noFill/>
          <a:ln w="19050">
            <a:solidFill>
              <a:srgbClr val="D9DD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46120" y="4069080"/>
            <a:ext cx="1521881" cy="-494489"/>
          </a:xfrm>
          <a:prstGeom prst="line">
            <a:avLst/>
          </a:prstGeom>
          <a:noFill/>
          <a:ln w="19050">
            <a:solidFill>
              <a:srgbClr val="D9DD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4069080"/>
            <a:ext cx="940574" cy="1294589"/>
          </a:xfrm>
          <a:prstGeom prst="line">
            <a:avLst/>
          </a:prstGeom>
          <a:noFill/>
          <a:ln w="19050">
            <a:solidFill>
              <a:srgbClr val="D9DD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4069080"/>
            <a:ext cx="-940574" cy="1294589"/>
          </a:xfrm>
          <a:prstGeom prst="line">
            <a:avLst/>
          </a:prstGeom>
          <a:noFill/>
          <a:ln w="19050">
            <a:solidFill>
              <a:srgbClr val="D9DD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4069080"/>
            <a:ext cx="-1521881" cy="-494489"/>
          </a:xfrm>
          <a:prstGeom prst="line">
            <a:avLst/>
          </a:prstGeom>
          <a:noFill/>
          <a:ln w="19050">
            <a:solidFill>
              <a:srgbClr val="D9DD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79192" y="2103120"/>
            <a:ext cx="1133856" cy="731520"/>
          </a:xfrm>
          <a:prstGeom prst="ellipse">
            <a:avLst/>
          </a:prstGeom>
          <a:solidFill>
            <a:srgbClr val="E9EEF4"/>
          </a:solidFill>
          <a:ln/>
        </p:spPr>
      </p:sp>
      <p:sp>
        <p:nvSpPr>
          <p:cNvPr id="11" name="Text 9"/>
          <p:cNvSpPr/>
          <p:nvPr/>
        </p:nvSpPr>
        <p:spPr>
          <a:xfrm>
            <a:off x="2679192" y="2103120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01073" y="3208831"/>
            <a:ext cx="1133856" cy="731520"/>
          </a:xfrm>
          <a:prstGeom prst="ellipse">
            <a:avLst/>
          </a:prstGeom>
          <a:solidFill>
            <a:srgbClr val="E9EEF4"/>
          </a:solidFill>
          <a:ln/>
        </p:spPr>
      </p:sp>
      <p:sp>
        <p:nvSpPr>
          <p:cNvPr id="13" name="Text 11"/>
          <p:cNvSpPr/>
          <p:nvPr/>
        </p:nvSpPr>
        <p:spPr>
          <a:xfrm>
            <a:off x="4201073" y="3208831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FEEL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19766" y="4997909"/>
            <a:ext cx="1133856" cy="731520"/>
          </a:xfrm>
          <a:prstGeom prst="ellipse">
            <a:avLst/>
          </a:prstGeom>
          <a:solidFill>
            <a:srgbClr val="E9EEF4"/>
          </a:solidFill>
          <a:ln/>
        </p:spPr>
      </p:sp>
      <p:sp>
        <p:nvSpPr>
          <p:cNvPr id="15" name="Text 13"/>
          <p:cNvSpPr/>
          <p:nvPr/>
        </p:nvSpPr>
        <p:spPr>
          <a:xfrm>
            <a:off x="3619766" y="4997909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738618" y="4997909"/>
            <a:ext cx="1133856" cy="731520"/>
          </a:xfrm>
          <a:prstGeom prst="ellipse">
            <a:avLst/>
          </a:prstGeom>
          <a:solidFill>
            <a:srgbClr val="E9EEF4"/>
          </a:solidFill>
          <a:ln/>
        </p:spPr>
      </p:sp>
      <p:sp>
        <p:nvSpPr>
          <p:cNvPr id="17" name="Text 15"/>
          <p:cNvSpPr/>
          <p:nvPr/>
        </p:nvSpPr>
        <p:spPr>
          <a:xfrm>
            <a:off x="1738618" y="4997909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157311" y="3208831"/>
            <a:ext cx="1133856" cy="731520"/>
          </a:xfrm>
          <a:prstGeom prst="ellipse">
            <a:avLst/>
          </a:prstGeom>
          <a:solidFill>
            <a:srgbClr val="E9EEF4"/>
          </a:solidFill>
          <a:ln/>
        </p:spPr>
      </p:sp>
      <p:sp>
        <p:nvSpPr>
          <p:cNvPr id="19" name="Text 17"/>
          <p:cNvSpPr/>
          <p:nvPr/>
        </p:nvSpPr>
        <p:spPr>
          <a:xfrm>
            <a:off x="1157311" y="3208831"/>
            <a:ext cx="1133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RELATE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377440" y="3474720"/>
            <a:ext cx="1737360" cy="118872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21" name="Text 19"/>
          <p:cNvSpPr/>
          <p:nvPr/>
        </p:nvSpPr>
        <p:spPr>
          <a:xfrm>
            <a:off x="2377440" y="34747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35040" y="19659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모듈에 머무르지 않는다.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SENSE · FEEL · THINK · ACT · RELATE를 동시에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담는 통합적 · 홀리스틱 경험이 궁극의 지향점이다.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035040" y="3291840"/>
            <a:ext cx="5669280" cy="1051560"/>
          </a:xfrm>
          <a:prstGeom prst="roundRect">
            <a:avLst>
              <a:gd name="adj" fmla="val 5217"/>
            </a:avLst>
          </a:prstGeom>
          <a:solidFill>
            <a:srgbClr val="E9EEF4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3401568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 하이브리드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모듈을 결합해 설계하며, 그 도구가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Experiential Wheel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원전은 뉴 비틀 · 소니를 통합 경험 사례로 든다.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35040" y="4572000"/>
            <a:ext cx="5669280" cy="868680"/>
          </a:xfrm>
          <a:prstGeom prst="roundRect">
            <a:avLst>
              <a:gd name="adj" fmla="val 6316"/>
            </a:avLst>
          </a:prstGeom>
          <a:solidFill>
            <a:srgbClr val="FBEBE3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457200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9주차 예고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이 통합 논의가 '모듈 통합' 주차의 핵심이 되며, 프로젝트 주제를 확정한다.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35040" y="5989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Schmitt(1999) 참고 · 개념도는 직접 작도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3주차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55680" y="64465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89204"/>
            <a:ext cx="118872" cy="118872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SPINE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이론적 계보 — 강의의 척추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E9EEF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0391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홀브룩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4048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“경험이 있다”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7706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1982 · 소비자심리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30752" y="22174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480560" y="187452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E9EEF4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0391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파인 · 길모어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24048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“경험이 돈이다”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27706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1998 · 4E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08392" y="22174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458200" y="187452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E8623D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0391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슈미트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58200" y="24048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“경험을 어떻게”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58200" y="27706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EB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1999 · SEM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24612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두 사람이 '왜 · 무엇'이라면, 슈미트는 '어떻게'.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840480"/>
            <a:ext cx="2194560" cy="457200"/>
          </a:xfrm>
          <a:prstGeom prst="roundRect">
            <a:avLst>
              <a:gd name="adj" fmla="val 8000"/>
            </a:avLst>
          </a:prstGeom>
          <a:solidFill>
            <a:srgbClr val="3D5A8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840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88920" y="3840480"/>
            <a:ext cx="4503420" cy="457200"/>
          </a:xfrm>
          <a:prstGeom prst="roundRect">
            <a:avLst>
              <a:gd name="adj" fmla="val 8000"/>
            </a:avLst>
          </a:prstGeom>
          <a:solidFill>
            <a:srgbClr val="3D5A80"/>
          </a:solidFill>
          <a:ln/>
        </p:spPr>
      </p:sp>
      <p:sp>
        <p:nvSpPr>
          <p:cNvPr id="23" name="Text 21"/>
          <p:cNvSpPr/>
          <p:nvPr/>
        </p:nvSpPr>
        <p:spPr>
          <a:xfrm>
            <a:off x="2788920" y="3840480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파인 · 길모어 4E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83780" y="3840480"/>
            <a:ext cx="4503420" cy="457200"/>
          </a:xfrm>
          <a:prstGeom prst="roundRect">
            <a:avLst>
              <a:gd name="adj" fmla="val 8000"/>
            </a:avLst>
          </a:prstGeom>
          <a:solidFill>
            <a:srgbClr val="E8623D"/>
          </a:solidFill>
          <a:ln/>
        </p:spPr>
      </p:sp>
      <p:sp>
        <p:nvSpPr>
          <p:cNvPr id="25" name="Text 23"/>
          <p:cNvSpPr/>
          <p:nvPr/>
        </p:nvSpPr>
        <p:spPr>
          <a:xfrm>
            <a:off x="7383780" y="3840480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슈미트 SEM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4389120"/>
            <a:ext cx="2194560" cy="566928"/>
          </a:xfrm>
          <a:prstGeom prst="roundRect">
            <a:avLst>
              <a:gd name="adj" fmla="val 4839"/>
            </a:avLst>
          </a:prstGeom>
          <a:solidFill>
            <a:srgbClr val="E9EEF4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3891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관점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88920" y="4389120"/>
            <a:ext cx="4503420" cy="566928"/>
          </a:xfrm>
          <a:prstGeom prst="roundRect">
            <a:avLst>
              <a:gd name="adj" fmla="val 4839"/>
            </a:avLst>
          </a:prstGeom>
          <a:solidFill>
            <a:srgbClr val="F3F5F8"/>
          </a:solidFill>
          <a:ln/>
        </p:spPr>
      </p:sp>
      <p:sp>
        <p:nvSpPr>
          <p:cNvPr id="29" name="Text 27"/>
          <p:cNvSpPr/>
          <p:nvPr/>
        </p:nvSpPr>
        <p:spPr>
          <a:xfrm>
            <a:off x="2971800" y="4389120"/>
            <a:ext cx="41376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고객의 참여 방식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83780" y="4389120"/>
            <a:ext cx="4503420" cy="566928"/>
          </a:xfrm>
          <a:prstGeom prst="roundRect">
            <a:avLst>
              <a:gd name="adj" fmla="val 4839"/>
            </a:avLst>
          </a:prstGeom>
          <a:solidFill>
            <a:srgbClr val="FBEBE3"/>
          </a:solidFill>
          <a:ln/>
        </p:spPr>
      </p:sp>
      <p:sp>
        <p:nvSpPr>
          <p:cNvPr id="31" name="Text 29"/>
          <p:cNvSpPr/>
          <p:nvPr/>
        </p:nvSpPr>
        <p:spPr>
          <a:xfrm>
            <a:off x="7566660" y="4389120"/>
            <a:ext cx="41376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마케터가 겨냥하는 심리 층위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" y="5029200"/>
            <a:ext cx="2194560" cy="566928"/>
          </a:xfrm>
          <a:prstGeom prst="roundRect">
            <a:avLst>
              <a:gd name="adj" fmla="val 4839"/>
            </a:avLst>
          </a:prstGeom>
          <a:solidFill>
            <a:srgbClr val="E9EEF4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50292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88920" y="5029200"/>
            <a:ext cx="4503420" cy="566928"/>
          </a:xfrm>
          <a:prstGeom prst="roundRect">
            <a:avLst>
              <a:gd name="adj" fmla="val 4839"/>
            </a:avLst>
          </a:prstGeom>
          <a:solidFill>
            <a:srgbClr val="F3F5F8"/>
          </a:solidFill>
          <a:ln/>
        </p:spPr>
      </p:sp>
      <p:sp>
        <p:nvSpPr>
          <p:cNvPr id="35" name="Text 33"/>
          <p:cNvSpPr/>
          <p:nvPr/>
        </p:nvSpPr>
        <p:spPr>
          <a:xfrm>
            <a:off x="2971800" y="5029200"/>
            <a:ext cx="41376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 · 교육 · 현실도피 · 미적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83780" y="5029200"/>
            <a:ext cx="4503420" cy="566928"/>
          </a:xfrm>
          <a:prstGeom prst="roundRect">
            <a:avLst>
              <a:gd name="adj" fmla="val 4839"/>
            </a:avLst>
          </a:prstGeom>
          <a:solidFill>
            <a:srgbClr val="FBEBE3"/>
          </a:solidFill>
          <a:ln/>
        </p:spPr>
      </p:sp>
      <p:sp>
        <p:nvSpPr>
          <p:cNvPr id="37" name="Text 35"/>
          <p:cNvSpPr/>
          <p:nvPr/>
        </p:nvSpPr>
        <p:spPr>
          <a:xfrm>
            <a:off x="7566660" y="5029200"/>
            <a:ext cx="41376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감각 · 감성 · 인지 · 행동 · 관계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" y="5669280"/>
            <a:ext cx="2194560" cy="566928"/>
          </a:xfrm>
          <a:prstGeom prst="roundRect">
            <a:avLst>
              <a:gd name="adj" fmla="val 4839"/>
            </a:avLst>
          </a:prstGeom>
          <a:solidFill>
            <a:srgbClr val="E9EEF4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56692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위치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88920" y="5669280"/>
            <a:ext cx="4503420" cy="566928"/>
          </a:xfrm>
          <a:prstGeom prst="roundRect">
            <a:avLst>
              <a:gd name="adj" fmla="val 4839"/>
            </a:avLst>
          </a:prstGeom>
          <a:solidFill>
            <a:srgbClr val="F3F5F8"/>
          </a:solidFill>
          <a:ln/>
        </p:spPr>
      </p:sp>
      <p:sp>
        <p:nvSpPr>
          <p:cNvPr id="41" name="Text 39"/>
          <p:cNvSpPr/>
          <p:nvPr/>
        </p:nvSpPr>
        <p:spPr>
          <a:xfrm>
            <a:off x="2971800" y="5669280"/>
            <a:ext cx="41376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(경험의 종류)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383780" y="5669280"/>
            <a:ext cx="4503420" cy="566928"/>
          </a:xfrm>
          <a:prstGeom prst="roundRect">
            <a:avLst>
              <a:gd name="adj" fmla="val 4839"/>
            </a:avLst>
          </a:prstGeom>
          <a:solidFill>
            <a:srgbClr val="FBEBE3"/>
          </a:solidFill>
          <a:ln/>
        </p:spPr>
      </p:sp>
      <p:sp>
        <p:nvSpPr>
          <p:cNvPr id="43" name="Text 41"/>
          <p:cNvSpPr/>
          <p:nvPr/>
        </p:nvSpPr>
        <p:spPr>
          <a:xfrm>
            <a:off x="7566660" y="5669280"/>
            <a:ext cx="41376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3~9주 (경험의 설계)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3주차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55680" y="64465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89204"/>
            <a:ext cx="118872" cy="118872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DEFENSE 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12주 예고 — 측정 가능한 척도로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Brakus, Schmitt &amp; Zarantonello(2009)의 브랜드 경험 4차원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사실상 슈미트의 SENSE · FEEL · THINK · ACT를 측정 가능한 척도로 조작화 · 검증한 것이다 (RELATE는 흡수 · 축소).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4709160" cy="1737360"/>
          </a:xfrm>
          <a:prstGeom prst="roundRect">
            <a:avLst>
              <a:gd name="adj" fmla="val 3684"/>
            </a:avLst>
          </a:prstGeom>
          <a:solidFill>
            <a:srgbClr val="3D5A8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80720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9D3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프레임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0632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슈미트 SEM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35661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EBF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SENSE · FEEL · THINK · ACT · RELATE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40680" y="3172968"/>
            <a:ext cx="1325880" cy="603504"/>
          </a:xfrm>
          <a:prstGeom prst="rightArrow">
            <a:avLst/>
          </a:prstGeom>
          <a:solidFill>
            <a:srgbClr val="E8623D"/>
          </a:solidFill>
          <a:ln/>
        </p:spPr>
      </p:sp>
      <p:sp>
        <p:nvSpPr>
          <p:cNvPr id="11" name="Text 9"/>
          <p:cNvSpPr/>
          <p:nvPr/>
        </p:nvSpPr>
        <p:spPr>
          <a:xfrm>
            <a:off x="5440680" y="258775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조작화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95160" y="2606040"/>
            <a:ext cx="4709160" cy="1737360"/>
          </a:xfrm>
          <a:prstGeom prst="roundRect">
            <a:avLst>
              <a:gd name="adj" fmla="val 3684"/>
            </a:avLst>
          </a:prstGeom>
          <a:solidFill>
            <a:srgbClr val="E8623D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280720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BEB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학술 척도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95160" y="30632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Brakus 4차원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95160" y="35661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감각 · 정서 · 지성 · 행동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709160"/>
            <a:ext cx="11201400" cy="868680"/>
          </a:xfrm>
          <a:prstGeom prst="roundRect">
            <a:avLst>
              <a:gd name="adj" fmla="val 6316"/>
            </a:avLst>
          </a:prstGeom>
          <a:solidFill>
            <a:srgbClr val="E9EEF4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7091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매핑   </a:t>
            </a:r>
            <a:pPr algn="l" indent="0" marL="0">
              <a:buNone/>
            </a:pPr>
            <a:r>
              <a:rPr lang="en-US" sz="140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SENSE → 감각    FEEL → 정서    THINK → 지성    ACT → 행동</a:t>
            </a:r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(RELATE는 흡수 · 축소)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'실무 프레임(슈미트) → 측정 가능한 학술 척도(Brakus)'</a:t>
            </a:r>
            <a:pPr indent="0" marL="0">
              <a:buNone/>
            </a:pPr>
            <a:r>
              <a:rPr lang="en-US" sz="13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이어지는 다리이며, 12주차에서 회수된다.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3주차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4465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89204"/>
            <a:ext cx="118872" cy="118872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CASE · 실무 사례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브랜드로 — SEM × ExPros 분해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201400" cy="1234440"/>
          </a:xfrm>
          <a:prstGeom prst="roundRect">
            <a:avLst>
              <a:gd name="adj" fmla="val 4444"/>
            </a:avLst>
          </a:prstGeom>
          <a:solidFill>
            <a:srgbClr val="FBEBE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10561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강한 브랜드는 하나의 주된 모듈을 정하고 나머지가 보완한다.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기계적으로 다섯 칸을 다 채우기보다, 어느 경험이 강하고 어디가 비어 있는지가 곧 전략적 공백이다.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200400"/>
            <a:ext cx="112014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22225">
            <a:solidFill>
              <a:srgbClr val="E8623D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68680" y="356616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E8623D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566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🟨  실무 사례 자리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4343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02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브랜드(또는 콘텐츠 채널) 하나를 골라 —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4800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다섯 SEM 중 무엇을 가장 강하게 자극하나
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437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 그 경험을 어떤 ExPro로 구현했나 — 어느 칸이 비어 있나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6235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오성수의 30년 실무 사례로 강의 직전 교체 · 보강 (이 교체가 이 강의의 차별점)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3주차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55680" y="64465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0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554480"/>
            <a:ext cx="3383280" cy="3383280"/>
          </a:xfrm>
          <a:prstGeom prst="ellipse">
            <a:avLst/>
          </a:prstGeom>
          <a:solidFill>
            <a:srgbClr val="3D5A8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38360" y="1554480"/>
            <a:ext cx="3383280" cy="3383280"/>
          </a:xfrm>
          <a:prstGeom prst="ellipse">
            <a:avLst/>
          </a:prstGeom>
          <a:solidFill>
            <a:srgbClr val="BE4A28">
              <a:alpha val="6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66928"/>
            <a:ext cx="128016" cy="128016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4754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STEP · 마무리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C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— 슈미트 SEM: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경험을 만드는 5모듈 + 7제공수단 + 그리드</a:t>
            </a:r>
            <a:pPr indent="0" marL="0">
              <a:buNone/>
            </a:pPr>
            <a:r>
              <a:rPr lang="en-US" sz="1800" dirty="0">
                <a:solidFill>
                  <a:srgbClr val="AEB4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(개관)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C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 (4주~) — </a:t>
            </a:r>
            <a:pPr indent="0" marL="0">
              <a:buNone/>
            </a:pPr>
            <a:r>
              <a:rPr lang="en-US" sz="1800" b="1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SENSE 심화</a:t>
            </a:r>
            <a:pPr indent="0" marL="0">
              <a:buNone/>
            </a:pPr>
            <a:r>
              <a:rPr lang="en-US" sz="1800" dirty="0">
                <a:solidFill>
                  <a:srgbClr val="D8DC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: 감각 경험 · 마케팅 심미학 · 자극-과정-결과(S-P-C)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1481328" cy="548640"/>
          </a:xfrm>
          <a:prstGeom prst="roundRect">
            <a:avLst>
              <a:gd name="adj" fmla="val 10000"/>
            </a:avLst>
          </a:prstGeom>
          <a:solidFill>
            <a:srgbClr val="E8623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8036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개관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288036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5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31136" y="2880360"/>
            <a:ext cx="1481328" cy="548640"/>
          </a:xfrm>
          <a:prstGeom prst="roundRect">
            <a:avLst>
              <a:gd name="adj" fmla="val 10000"/>
            </a:avLst>
          </a:prstGeom>
          <a:solidFill>
            <a:srgbClr val="2C3048"/>
          </a:solidFill>
          <a:ln/>
        </p:spPr>
      </p:sp>
      <p:sp>
        <p:nvSpPr>
          <p:cNvPr id="12" name="Text 10"/>
          <p:cNvSpPr/>
          <p:nvPr/>
        </p:nvSpPr>
        <p:spPr>
          <a:xfrm>
            <a:off x="2231136" y="288036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4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SENSE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94176" y="288036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5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22192" y="2880360"/>
            <a:ext cx="1481328" cy="548640"/>
          </a:xfrm>
          <a:prstGeom prst="roundRect">
            <a:avLst>
              <a:gd name="adj" fmla="val 10000"/>
            </a:avLst>
          </a:prstGeom>
          <a:solidFill>
            <a:srgbClr val="2C3048"/>
          </a:solidFill>
          <a:ln/>
        </p:spPr>
      </p:sp>
      <p:sp>
        <p:nvSpPr>
          <p:cNvPr id="15" name="Text 13"/>
          <p:cNvSpPr/>
          <p:nvPr/>
        </p:nvSpPr>
        <p:spPr>
          <a:xfrm>
            <a:off x="3822192" y="288036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4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FEEL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85232" y="288036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5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13248" y="2880360"/>
            <a:ext cx="1481328" cy="548640"/>
          </a:xfrm>
          <a:prstGeom prst="roundRect">
            <a:avLst>
              <a:gd name="adj" fmla="val 10000"/>
            </a:avLst>
          </a:prstGeom>
          <a:solidFill>
            <a:srgbClr val="2C3048"/>
          </a:solidFill>
          <a:ln/>
        </p:spPr>
      </p:sp>
      <p:sp>
        <p:nvSpPr>
          <p:cNvPr id="18" name="Text 16"/>
          <p:cNvSpPr/>
          <p:nvPr/>
        </p:nvSpPr>
        <p:spPr>
          <a:xfrm>
            <a:off x="5413248" y="288036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4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THINK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76288" y="288036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5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004304" y="2880360"/>
            <a:ext cx="1481328" cy="548640"/>
          </a:xfrm>
          <a:prstGeom prst="roundRect">
            <a:avLst>
              <a:gd name="adj" fmla="val 10000"/>
            </a:avLst>
          </a:prstGeom>
          <a:solidFill>
            <a:srgbClr val="2C3048"/>
          </a:solidFill>
          <a:ln/>
        </p:spPr>
      </p:sp>
      <p:sp>
        <p:nvSpPr>
          <p:cNvPr id="21" name="Text 19"/>
          <p:cNvSpPr/>
          <p:nvPr/>
        </p:nvSpPr>
        <p:spPr>
          <a:xfrm>
            <a:off x="7004304" y="288036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4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ACT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67344" y="288036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5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95360" y="2880360"/>
            <a:ext cx="1481328" cy="548640"/>
          </a:xfrm>
          <a:prstGeom prst="roundRect">
            <a:avLst>
              <a:gd name="adj" fmla="val 10000"/>
            </a:avLst>
          </a:prstGeom>
          <a:solidFill>
            <a:srgbClr val="2C3048"/>
          </a:solidFill>
          <a:ln/>
        </p:spPr>
      </p:sp>
      <p:sp>
        <p:nvSpPr>
          <p:cNvPr id="24" name="Text 22"/>
          <p:cNvSpPr/>
          <p:nvPr/>
        </p:nvSpPr>
        <p:spPr>
          <a:xfrm>
            <a:off x="8595360" y="288036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4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RELATE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0" y="288036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5E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186416" y="2880360"/>
            <a:ext cx="1481328" cy="548640"/>
          </a:xfrm>
          <a:prstGeom prst="roundRect">
            <a:avLst>
              <a:gd name="adj" fmla="val 10000"/>
            </a:avLst>
          </a:prstGeom>
          <a:solidFill>
            <a:srgbClr val="2C3048"/>
          </a:solidFill>
          <a:ln/>
        </p:spPr>
      </p:sp>
      <p:sp>
        <p:nvSpPr>
          <p:cNvPr id="27" name="Text 25"/>
          <p:cNvSpPr/>
          <p:nvPr/>
        </p:nvSpPr>
        <p:spPr>
          <a:xfrm>
            <a:off x="10186416" y="288036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4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통합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3886200"/>
            <a:ext cx="10881360" cy="1600200"/>
          </a:xfrm>
          <a:prstGeom prst="roundRect">
            <a:avLst>
              <a:gd name="adj" fmla="val 4000"/>
            </a:avLst>
          </a:prstGeom>
          <a:solidFill>
            <a:srgbClr val="262A42"/>
          </a:solidFill>
          <a:ln/>
        </p:spPr>
      </p:sp>
      <p:sp>
        <p:nvSpPr>
          <p:cNvPr id="29" name="Shape 27"/>
          <p:cNvSpPr/>
          <p:nvPr/>
        </p:nvSpPr>
        <p:spPr>
          <a:xfrm>
            <a:off x="914400" y="4160520"/>
            <a:ext cx="1188720" cy="502920"/>
          </a:xfrm>
          <a:prstGeom prst="roundRect">
            <a:avLst>
              <a:gd name="adj" fmla="val 12727"/>
            </a:avLst>
          </a:prstGeom>
          <a:solidFill>
            <a:srgbClr val="E8623D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160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14400" y="48006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8DC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인상 깊었던 브랜드 경험 하나를 골라 다섯 SEM으로 분해하고, 어떤 ExPro로 구현되었는지 한 문단으로 정리해 온다.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5852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 ·  슈미트 SEM 개관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57784"/>
            <a:ext cx="146304" cy="146304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846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EXPERIENTIAL GRID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13816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 그리드 — SEM × ExPros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세로(전략) = 무슨 경험 · 가로(전술) = 무엇으로 구현.  </a:t>
            </a:r>
            <a:pPr algn="l" indent="0" marL="0">
              <a:buNone/>
            </a:pPr>
            <a:r>
              <a:rPr lang="en-US" sz="1350" dirty="0">
                <a:solidFill>
                  <a:srgbClr val="5559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SEM이든, 어떤 ExPro로도 만들 수 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554480" cy="658368"/>
          </a:xfrm>
          <a:prstGeom prst="rect">
            <a:avLst/>
          </a:prstGeom>
          <a:solidFill>
            <a:srgbClr val="E7E9EE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8745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SEM </a:t>
            </a:r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ExPros </a:t>
            </a:r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1874520"/>
            <a:ext cx="1384663" cy="658368"/>
          </a:xfrm>
          <a:prstGeom prst="rect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48256" y="1874520"/>
            <a:ext cx="13115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커뮤니케이션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96343" y="1874520"/>
            <a:ext cx="1384663" cy="658368"/>
          </a:xfrm>
          <a:prstGeom prst="rect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2919" y="1874520"/>
            <a:ext cx="13115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시각·언어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아이덴티티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81006" y="1874520"/>
            <a:ext cx="1384663" cy="658368"/>
          </a:xfrm>
          <a:prstGeom prst="rect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7582" y="1874520"/>
            <a:ext cx="13115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외형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5669" y="1874520"/>
            <a:ext cx="1384663" cy="658368"/>
          </a:xfrm>
          <a:prstGeom prst="rect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02245" y="1874520"/>
            <a:ext cx="13115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50331" y="1874520"/>
            <a:ext cx="1384663" cy="658368"/>
          </a:xfrm>
          <a:prstGeom prst="rect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6907" y="1874520"/>
            <a:ext cx="13115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 환경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34994" y="1874520"/>
            <a:ext cx="1384663" cy="658368"/>
          </a:xfrm>
          <a:prstGeom prst="rect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1570" y="1874520"/>
            <a:ext cx="13115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전자매체·웹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319657" y="1874520"/>
            <a:ext cx="1384663" cy="658368"/>
          </a:xfrm>
          <a:prstGeom prst="rect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56233" y="1874520"/>
            <a:ext cx="131151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532888"/>
            <a:ext cx="1554480" cy="603504"/>
          </a:xfrm>
          <a:prstGeom prst="rect">
            <a:avLst/>
          </a:prstGeom>
          <a:solidFill>
            <a:srgbClr val="2023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532888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감각  </a:t>
            </a:r>
            <a:pPr algn="l" indent="0" marL="0">
              <a:buNone/>
            </a:pPr>
            <a:r>
              <a:rPr lang="en-US" sz="1400" b="1" dirty="0">
                <a:solidFill>
                  <a:srgbClr val="9BB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011680" y="2532888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96343" y="2532888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81006" y="2532888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65669" y="2532888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50331" y="2532888"/>
            <a:ext cx="1384663" cy="603504"/>
          </a:xfrm>
          <a:prstGeom prst="rect">
            <a:avLst/>
          </a:prstGeom>
          <a:solidFill>
            <a:srgbClr val="FBEBE3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50331" y="2532888"/>
            <a:ext cx="64008" cy="603504"/>
          </a:xfrm>
          <a:prstGeom prst="rect">
            <a:avLst/>
          </a:prstGeom>
          <a:solidFill>
            <a:srgbClr val="E8623D"/>
          </a:solidFill>
          <a:ln/>
        </p:spPr>
      </p:sp>
      <p:sp>
        <p:nvSpPr>
          <p:cNvPr id="30" name="Text 28"/>
          <p:cNvSpPr/>
          <p:nvPr/>
        </p:nvSpPr>
        <p:spPr>
          <a:xfrm>
            <a:off x="7660059" y="2532888"/>
            <a:ext cx="120178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향·음악·조명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934994" y="2532888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19657" y="2532888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136392"/>
            <a:ext cx="1554480" cy="603504"/>
          </a:xfrm>
          <a:prstGeom prst="rect">
            <a:avLst/>
          </a:prstGeom>
          <a:solidFill>
            <a:srgbClr val="2023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136392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감성  </a:t>
            </a:r>
            <a:pPr algn="l" indent="0" marL="0">
              <a:buNone/>
            </a:pPr>
            <a:r>
              <a:rPr lang="en-US" sz="1400" b="1" dirty="0">
                <a:solidFill>
                  <a:srgbClr val="9BB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FEEL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011680" y="3136392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96343" y="3136392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81006" y="3136392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65669" y="3136392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50331" y="3136392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34994" y="3136392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319657" y="3136392"/>
            <a:ext cx="1384663" cy="603504"/>
          </a:xfrm>
          <a:prstGeom prst="rect">
            <a:avLst/>
          </a:prstGeom>
          <a:solidFill>
            <a:srgbClr val="FBEBE3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319657" y="3136392"/>
            <a:ext cx="64008" cy="603504"/>
          </a:xfrm>
          <a:prstGeom prst="rect">
            <a:avLst/>
          </a:prstGeom>
          <a:solidFill>
            <a:srgbClr val="E8623D"/>
          </a:solidFill>
          <a:ln/>
        </p:spPr>
      </p:sp>
      <p:sp>
        <p:nvSpPr>
          <p:cNvPr id="43" name="Text 41"/>
          <p:cNvSpPr/>
          <p:nvPr/>
        </p:nvSpPr>
        <p:spPr>
          <a:xfrm>
            <a:off x="10429385" y="3136392"/>
            <a:ext cx="120178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불러주기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3739896"/>
            <a:ext cx="1554480" cy="603504"/>
          </a:xfrm>
          <a:prstGeom prst="rect">
            <a:avLst/>
          </a:prstGeom>
          <a:solidFill>
            <a:srgbClr val="2023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3739896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  </a:t>
            </a:r>
            <a:pPr algn="l" indent="0" marL="0">
              <a:buNone/>
            </a:pPr>
            <a:r>
              <a:rPr lang="en-US" sz="1400" b="1" dirty="0">
                <a:solidFill>
                  <a:srgbClr val="9BB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2011680" y="3739896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96343" y="3739896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81006" y="3739896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65669" y="3739896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50331" y="3739896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934994" y="3739896"/>
            <a:ext cx="1384663" cy="603504"/>
          </a:xfrm>
          <a:prstGeom prst="rect">
            <a:avLst/>
          </a:prstGeom>
          <a:solidFill>
            <a:srgbClr val="FBEBE3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934994" y="3739896"/>
            <a:ext cx="64008" cy="603504"/>
          </a:xfrm>
          <a:prstGeom prst="rect">
            <a:avLst/>
          </a:prstGeom>
          <a:solidFill>
            <a:srgbClr val="E8623D"/>
          </a:solidFill>
          <a:ln/>
        </p:spPr>
      </p:sp>
      <p:sp>
        <p:nvSpPr>
          <p:cNvPr id="53" name="Text 51"/>
          <p:cNvSpPr/>
          <p:nvPr/>
        </p:nvSpPr>
        <p:spPr>
          <a:xfrm>
            <a:off x="9044722" y="3739896"/>
            <a:ext cx="120178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리워드 게임화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0319657" y="3739896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" y="4343400"/>
            <a:ext cx="1554480" cy="603504"/>
          </a:xfrm>
          <a:prstGeom prst="rect">
            <a:avLst/>
          </a:prstGeom>
          <a:solidFill>
            <a:srgbClr val="2023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4360" y="4343400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 </a:t>
            </a:r>
            <a:pPr algn="l" indent="0" marL="0">
              <a:buNone/>
            </a:pPr>
            <a:r>
              <a:rPr lang="en-US" sz="1400" b="1" dirty="0">
                <a:solidFill>
                  <a:srgbClr val="9BB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2011680" y="4343400"/>
            <a:ext cx="1384663" cy="603504"/>
          </a:xfrm>
          <a:prstGeom prst="rect">
            <a:avLst/>
          </a:prstGeom>
          <a:solidFill>
            <a:srgbClr val="FBEBE3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011680" y="4343400"/>
            <a:ext cx="64008" cy="603504"/>
          </a:xfrm>
          <a:prstGeom prst="rect">
            <a:avLst/>
          </a:prstGeom>
          <a:solidFill>
            <a:srgbClr val="E8623D"/>
          </a:solidFill>
          <a:ln/>
        </p:spPr>
      </p:sp>
      <p:sp>
        <p:nvSpPr>
          <p:cNvPr id="59" name="Text 57"/>
          <p:cNvSpPr/>
          <p:nvPr/>
        </p:nvSpPr>
        <p:spPr>
          <a:xfrm>
            <a:off x="2121408" y="4343400"/>
            <a:ext cx="120178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'제3의 공간'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라이프스타일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396343" y="4343400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81006" y="4343400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65669" y="4343400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50331" y="4343400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934994" y="4343400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319657" y="4343400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57200" y="4946904"/>
            <a:ext cx="1554480" cy="603504"/>
          </a:xfrm>
          <a:prstGeom prst="rect">
            <a:avLst/>
          </a:prstGeom>
          <a:solidFill>
            <a:srgbClr val="2023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94360" y="4946904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  </a:t>
            </a:r>
            <a:pPr algn="l" indent="0" marL="0">
              <a:buNone/>
            </a:pPr>
            <a:r>
              <a:rPr lang="en-US" sz="1400" b="1" dirty="0">
                <a:solidFill>
                  <a:srgbClr val="9BB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RELATE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2011680" y="4946904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396343" y="4946904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781006" y="4946904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165669" y="4946904"/>
            <a:ext cx="1384663" cy="603504"/>
          </a:xfrm>
          <a:prstGeom prst="rect">
            <a:avLst/>
          </a:prstGeom>
          <a:solidFill>
            <a:srgbClr val="FBEBE3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165669" y="4946904"/>
            <a:ext cx="64008" cy="603504"/>
          </a:xfrm>
          <a:prstGeom prst="rect">
            <a:avLst/>
          </a:prstGeom>
          <a:solidFill>
            <a:srgbClr val="E8623D"/>
          </a:solidFill>
          <a:ln/>
        </p:spPr>
      </p:sp>
      <p:sp>
        <p:nvSpPr>
          <p:cNvPr id="73" name="Text 71"/>
          <p:cNvSpPr/>
          <p:nvPr/>
        </p:nvSpPr>
        <p:spPr>
          <a:xfrm>
            <a:off x="6275397" y="4946904"/>
            <a:ext cx="120178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굿즈·커뮤니티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550331" y="4946904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934994" y="4946904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319657" y="4946904"/>
            <a:ext cx="1384663" cy="603504"/>
          </a:xfrm>
          <a:prstGeom prst="rect">
            <a:avLst/>
          </a:prstGeom>
          <a:solidFill>
            <a:srgbClr val="FCFCFD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57200" y="5715000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20233A"/>
          </a:solidFill>
          <a:ln/>
        </p:spPr>
      </p:sp>
      <p:sp>
        <p:nvSpPr>
          <p:cNvPr id="78" name="Text 76"/>
          <p:cNvSpPr/>
          <p:nvPr/>
        </p:nvSpPr>
        <p:spPr>
          <a:xfrm>
            <a:off x="822960" y="571500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2B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칠해진 칸 = 스타벅스 예시.  </a:t>
            </a:r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7E9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× 7 = 35칸 어디든 채울 수 있다 — 관건은 각 ExPro를 </a:t>
            </a:r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일관되게 · 지속적으로 · 디테일까지</a:t>
            </a:r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7E9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관리하는 것.</a:t>
            </a:r>
            <a:endParaRPr lang="en-US" sz="1350" dirty="0"/>
          </a:p>
        </p:txBody>
      </p:sp>
      <p:sp>
        <p:nvSpPr>
          <p:cNvPr id="79" name="Text 77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3주차 (슈미트 SEM)</a:t>
            </a:r>
            <a:endParaRPr lang="en-US" sz="900" dirty="0"/>
          </a:p>
        </p:txBody>
      </p:sp>
      <p:sp>
        <p:nvSpPr>
          <p:cNvPr id="9009" name="pgnum9"/>
          <p:cNvSpPr/>
          <p:nvPr/>
        </p:nvSpPr>
        <p:spPr>
          <a:xfrm>
            <a:off x="11155680" y="6446520"/>
            <a:ext cx="566928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r>
              <a:rPr lang="en-US" sz="900" b="0" dirty="0">
                <a:solidFill>
                  <a:srgbClr val="6B7280"/>
                </a:solidFill>
                <a:latin typeface="Malgun Gothic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2026-07-22T06:19:05Z</dcterms:created>
  <dcterms:modified xsi:type="dcterms:W3CDTF">2026-07-22T06:19:05Z</dcterms:modified>
</cp:coreProperties>
</file>