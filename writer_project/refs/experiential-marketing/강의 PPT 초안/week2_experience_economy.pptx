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2주차 시작. 1주차 홀브룩이 '경험이 존재한다'를 심리학적으로 증명했다면, 오늘 파인·길모어는 그 경험을 '별도의 경제적 가치'로 전환한다. 학술 → 경영으로 렌즈를 넓히는 시간.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1주차와 명시적으로 대비. 홀브룩=학자/심리학(경험이 있다), 파인·길모어=경영자/전략(경험이 돈이다). 두 학문 렌즈로 같은 현상을 보는 훈련 자체가 대학원생의 시야를 넓힘.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파인·길모어의 출발 질문. 커피라는 동일 원료가 어떤 단계에서 팔리느냐에 따라 값이 수십 배 차이. 다음 장 '경제적 가치의 진화'로 연결.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핵심 표. 경험은 기억에 남고(제품=유형, 서비스=무형, 경험=기억), 고객 내면에서 완성된다. '경험 다음은 변화(Transformation)'는 13장에서 다룸.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원두가 어느 단계에서 팔리느냐로 값이 수십 배. 원두=원재료, 캔=제품, 카페=서비스, 리저브·블루보틀=경험. 색이 차가운 쪽(원재료)에서 코랄(경험)로 갈수록 값이 오른다.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경험의 상품성 = 즐거움이 아니라 '기억→브랜드 가치'의 구조. 관리 지표도 단순 만족도가 아니라 '무엇을 기억하는가, 어떤 이야기를 하는가, 지불 의사가 있는가'로 바뀐다.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4E의 시그니처 도식. 세로=참여(수동/능동), 가로=연결(흡수/몰입). 네 사분면=엔터/교육/현실도피/미적. 가운데 겹치는 지점이 Sweet Spot. 흡수='경험이 내 안으로', 몰입='내가 경험 안으로'.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영역을 참여/연결 조합으로 구분. 오락=봄, 교육=배움, 현실도피=주인공(공연을 보는 게 아니라 자신이 등장인물), 미적=머묾. 정보가 든 영상이라고 다 교육이 아니라 실제로 사고·적용해야 교육적.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[실무 사례 자리 — 비워둠] 오성수 캠페인/행사/팝업 하나를 4E 사분면에 매핑. 어느 영역이 주력이고 어디가 결손인지 토론. 강의 직전 최신 사례로 채울 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책(1999) 부제 'Work is Theatre &amp; Every Business a Stage'. 연극은 은유가 아니라 운영 체계 — 서비스=무대, 상품=소품, 직원=배우. 1999년 책은 여기에 연극 4유형(즉흥·플랫폼·매칭·스트리트)과 대량맞춤화까지 확장.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1998년 논문의 실무적 핵심. 이벤트 요령이 아니라 기억 설계 원리. 특히 '주제'는 슬로건과 다르며 모든 요소를 조직하는 해석 프레임. 부정 단서 제거는 '정보를 없애라'가 아니라 '경험을 깨지 않게 재설계하라'.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파인·길모어 논지의 발전. 1998 선언 → 1999 책이 조직·맞춤화·Transformation으로 확장 → 2019 개정판이 '시간·주의·돈' 경쟁으로 프레임 갱신. 인용 시 4E를 2019에 귀속하면 오류.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1999년 책의 핵심 확장. 가치 진화는 경험에서 안 끝나고 '변화'로 간다. 변화=고객의 상태 전환(교육·피트니스·코칭·의료). 파인의 최신작 'Transformation Economy'로 이어지는 씨앗.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실질 포인트(라이트). 이 이론틀이 숏폼·브랜디드 콘텐츠 연구의 뼈대가 된다 — 이론이 곧 연구·실무 자산. 단, 원저자 주장과 연구자의 확장 해석을 반드시 구분(상세자료 8장). 이 구분 자체가 대학원 수준의 엄밀성.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오늘의 4E(경험의 종류)에서 다음 주 슈미트 SEM(경험을 만드는 5모듈)으로. 그리고 12주 Brakus 브랜드 경험 4차원이 4E와 병렬로 연결됨을 예고 — 이론이 1982→1998→1999→2009로 이어지는 척추임을 각인.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43850" y="1600200"/>
            <a:ext cx="3931920" cy="3931920"/>
          </a:xfrm>
          <a:prstGeom prst="ellipse">
            <a:avLst/>
          </a:prstGeom>
          <a:solidFill>
            <a:srgbClr val="3D5A80">
              <a:alpha val="5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516618" y="1600200"/>
            <a:ext cx="3931920" cy="3931920"/>
          </a:xfrm>
          <a:prstGeom prst="ellipse">
            <a:avLst/>
          </a:prstGeom>
          <a:solidFill>
            <a:srgbClr val="E8623D">
              <a:alpha val="5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234440"/>
            <a:ext cx="1234440" cy="457200"/>
          </a:xfrm>
          <a:prstGeom prst="roundRect">
            <a:avLst>
              <a:gd name="adj" fmla="val 16000"/>
            </a:avLst>
          </a:prstGeom>
          <a:solidFill>
            <a:srgbClr val="E8623D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3444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6596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 경제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F2B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홀브룩이 “경험이 </a:t>
            </a:r>
            <a:pPr algn="l" indent="0" marL="0">
              <a:lnSpc>
                <a:spcPct val="120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있다</a:t>
            </a:r>
            <a:pPr algn="l"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F2B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”를 말했다면, 파인·길모어는 “경험이 </a:t>
            </a:r>
            <a:pPr algn="l" indent="0" marL="0">
              <a:lnSpc>
                <a:spcPct val="120000"/>
              </a:lnSpc>
              <a:buNone/>
            </a:pPr>
            <a:r>
              <a:rPr lang="en-US" sz="1700" b="1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돈이다</a:t>
            </a:r>
            <a:pPr algn="l" indent="0" marL="0">
              <a:lnSpc>
                <a:spcPct val="120000"/>
              </a:lnSpc>
              <a:buNone/>
            </a:pPr>
            <a:r>
              <a:rPr lang="en-US" sz="1700" i="1" dirty="0">
                <a:solidFill>
                  <a:srgbClr val="F2B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”를 말한다.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937760"/>
            <a:ext cx="5852160" cy="0"/>
          </a:xfrm>
          <a:prstGeom prst="line">
            <a:avLst/>
          </a:prstGeom>
          <a:noFill/>
          <a:ln w="12700">
            <a:solidFill>
              <a:srgbClr val="4A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1206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CC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Pine &amp; Gilmore (1998 · 1999 · 2019)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9CC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 ·  오성수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846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RECAP → TODAY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경험이 '있다'에서 '돈이다'로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5440680" cy="3063240"/>
          </a:xfrm>
          <a:prstGeom prst="roundRect">
            <a:avLst>
              <a:gd name="adj" fmla="val 2985"/>
            </a:avLst>
          </a:prstGeom>
          <a:solidFill>
            <a:srgbClr val="E9EEF4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03120"/>
            <a:ext cx="2468880" cy="457200"/>
          </a:xfrm>
          <a:prstGeom prst="roundRect">
            <a:avLst>
              <a:gd name="adj" fmla="val 14000"/>
            </a:avLst>
          </a:prstGeom>
          <a:solidFill>
            <a:srgbClr val="3D5A8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1주차 · 학자의 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743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홀브룩 &amp; 허쉬만 (1982)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“소비에는 경험적 측면이 존재한다”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— 소비자심리 관점에서 증명 (3F: 환상·감정·재미)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263640" y="1783080"/>
            <a:ext cx="5440680" cy="3063240"/>
          </a:xfrm>
          <a:prstGeom prst="roundRect">
            <a:avLst>
              <a:gd name="adj" fmla="val 2985"/>
            </a:avLst>
          </a:prstGeom>
          <a:solidFill>
            <a:srgbClr val="FBEBE3"/>
          </a:solidFill>
          <a:ln/>
        </p:spPr>
      </p:sp>
      <p:sp>
        <p:nvSpPr>
          <p:cNvPr id="11" name="Shape 9"/>
          <p:cNvSpPr/>
          <p:nvPr/>
        </p:nvSpPr>
        <p:spPr>
          <a:xfrm>
            <a:off x="6583680" y="2103120"/>
            <a:ext cx="2651760" cy="457200"/>
          </a:xfrm>
          <a:prstGeom prst="roundRect">
            <a:avLst>
              <a:gd name="adj" fmla="val 14000"/>
            </a:avLst>
          </a:prstGeom>
          <a:solidFill>
            <a:srgbClr val="E8623D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0" y="21031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2주차 · 경영자의 눈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파인 &amp; 길모어 (1998)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83680" y="320040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4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“그 경험은 값을 매길 수 있는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6B4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독립된 경제 범주다” — 전략·실무 관점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57200" y="5074920"/>
            <a:ext cx="11247120" cy="868680"/>
          </a:xfrm>
          <a:prstGeom prst="roundRect">
            <a:avLst>
              <a:gd name="adj" fmla="val 9474"/>
            </a:avLst>
          </a:prstGeom>
          <a:solidFill>
            <a:srgbClr val="20233A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749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F2B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현상, 두 개의 렌즈. </a:t>
            </a:r>
            <a:pPr algn="l"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E7E9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심리학 → 경영학으로 시야를 넓히면, 오늘의 질문이 보인다 — '경험을 어떻게 돈·전략으로 바꾸나?'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2주차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55380" y="1691640"/>
            <a:ext cx="3474720" cy="3474720"/>
          </a:xfrm>
          <a:prstGeom prst="ellipse">
            <a:avLst/>
          </a:prstGeom>
          <a:solidFill>
            <a:srgbClr val="3D5A80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145268" y="1691640"/>
            <a:ext cx="3474720" cy="3474720"/>
          </a:xfrm>
          <a:prstGeom prst="ellipse">
            <a:avLst/>
          </a:prstGeom>
          <a:solidFill>
            <a:srgbClr val="E8623D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2B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여는 질문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192024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커피인데,</a:t>
            </a:r>
            <a:endParaRPr lang="en-US" sz="38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어디선 몇백 원이고</a:t>
            </a:r>
            <a:endParaRPr lang="en-US" sz="38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어디선 1만 원인가?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892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i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답은 커피가 아니라, '경험'을 팔기 때문이다.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846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PROGRESSION OF VALUE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경제적 가치의 진화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108960" cy="566928"/>
          </a:xfrm>
          <a:prstGeom prst="rect">
            <a:avLst/>
          </a:prstGeom>
          <a:solidFill>
            <a:srgbClr val="2E4661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783080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0" y="1783080"/>
            <a:ext cx="2679192" cy="566928"/>
          </a:xfrm>
          <a:prstGeom prst="rect">
            <a:avLst/>
          </a:prstGeom>
          <a:solidFill>
            <a:srgbClr val="2E4661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0" y="1783080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기업이 제공하는 것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336792" y="1783080"/>
            <a:ext cx="2679192" cy="566928"/>
          </a:xfrm>
          <a:prstGeom prst="rect">
            <a:avLst/>
          </a:prstGeom>
          <a:solidFill>
            <a:srgbClr val="2E4661"/>
          </a:solidFill>
          <a:ln/>
        </p:spPr>
      </p:sp>
      <p:sp>
        <p:nvSpPr>
          <p:cNvPr id="10" name="Text 8"/>
          <p:cNvSpPr/>
          <p:nvPr/>
        </p:nvSpPr>
        <p:spPr>
          <a:xfrm>
            <a:off x="6336792" y="1783080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구매자가 얻는 것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015984" y="1783080"/>
            <a:ext cx="2679192" cy="566928"/>
          </a:xfrm>
          <a:prstGeom prst="rect">
            <a:avLst/>
          </a:prstGeom>
          <a:solidFill>
            <a:srgbClr val="2E4661"/>
          </a:solidFill>
          <a:ln/>
        </p:spPr>
      </p:sp>
      <p:sp>
        <p:nvSpPr>
          <p:cNvPr id="12" name="Text 10"/>
          <p:cNvSpPr/>
          <p:nvPr/>
        </p:nvSpPr>
        <p:spPr>
          <a:xfrm>
            <a:off x="9015984" y="1783080"/>
            <a:ext cx="2679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차별화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350008"/>
            <a:ext cx="3108960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350008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원재료  Commodities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0" y="2350008"/>
            <a:ext cx="26791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49040" y="2350008"/>
            <a:ext cx="2496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자연에서 추출한 물질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336792" y="2350008"/>
            <a:ext cx="26791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2350008"/>
            <a:ext cx="2496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투입물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015984" y="2350008"/>
            <a:ext cx="26791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07424" y="2350008"/>
            <a:ext cx="2496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거의 없음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3063240"/>
            <a:ext cx="3108960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063240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 Goods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657600" y="3063240"/>
            <a:ext cx="26791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49040" y="3063240"/>
            <a:ext cx="2496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표준화된 유형물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336792" y="3063240"/>
            <a:ext cx="26791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28232" y="3063240"/>
            <a:ext cx="2496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기능과 성능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015984" y="3063240"/>
            <a:ext cx="26791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07424" y="3063240"/>
            <a:ext cx="2496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기능·품질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48640" y="3776472"/>
            <a:ext cx="3108960" cy="713232"/>
          </a:xfrm>
          <a:prstGeom prst="rect">
            <a:avLst/>
          </a:prstGeom>
          <a:solidFill>
            <a:srgbClr val="F4F6F9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3776472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 Services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3657600" y="3776472"/>
            <a:ext cx="26791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49040" y="3776472"/>
            <a:ext cx="2496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고객을 위한 활동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336792" y="3776472"/>
            <a:ext cx="26791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776472"/>
            <a:ext cx="2496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편의·문제 해결</a:t>
            </a:r>
            <a:endParaRPr lang="en-US" sz="1350" dirty="0"/>
          </a:p>
        </p:txBody>
      </p:sp>
      <p:sp>
        <p:nvSpPr>
          <p:cNvPr id="35" name="Shape 33"/>
          <p:cNvSpPr/>
          <p:nvPr/>
        </p:nvSpPr>
        <p:spPr>
          <a:xfrm>
            <a:off x="9015984" y="3776472"/>
            <a:ext cx="2679192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07424" y="3776472"/>
            <a:ext cx="2496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관계·품질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48640" y="4489704"/>
            <a:ext cx="3108960" cy="713232"/>
          </a:xfrm>
          <a:prstGeom prst="rect">
            <a:avLst/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4489704"/>
            <a:ext cx="27889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  Experiences</a:t>
            </a:r>
            <a:endParaRPr lang="en-US" sz="1500" dirty="0"/>
          </a:p>
        </p:txBody>
      </p:sp>
      <p:sp>
        <p:nvSpPr>
          <p:cNvPr id="39" name="Shape 37"/>
          <p:cNvSpPr/>
          <p:nvPr/>
        </p:nvSpPr>
        <p:spPr>
          <a:xfrm>
            <a:off x="3657600" y="4489704"/>
            <a:ext cx="2679192" cy="713232"/>
          </a:xfrm>
          <a:prstGeom prst="rect">
            <a:avLst/>
          </a:prstGeom>
          <a:solidFill>
            <a:srgbClr val="FBEBE3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49040" y="4489704"/>
            <a:ext cx="2496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참여하는 사건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6336792" y="4489704"/>
            <a:ext cx="2679192" cy="713232"/>
          </a:xfrm>
          <a:prstGeom prst="rect">
            <a:avLst/>
          </a:prstGeom>
          <a:solidFill>
            <a:srgbClr val="FBEBE3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28232" y="4489704"/>
            <a:ext cx="2496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기억과 의미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9015984" y="4489704"/>
            <a:ext cx="2679192" cy="713232"/>
          </a:xfrm>
          <a:prstGeom prst="rect">
            <a:avLst/>
          </a:prstGeom>
          <a:solidFill>
            <a:srgbClr val="FBEBE3"/>
          </a:solidFill>
          <a:ln w="12700">
            <a:solidFill>
              <a:srgbClr val="D9DD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07424" y="4489704"/>
            <a:ext cx="24963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개인적·정서적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48640" y="54406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단계가 평준화(commoditized)되면 다음 단계로 올라간다. </a:t>
            </a:r>
            <a:pPr algn="l" indent="0" marL="0">
              <a:buNone/>
            </a:pPr>
            <a:r>
              <a:rPr lang="en-US" sz="140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경험은 '서비스에 분위기를 더한 것'이 아니라, 독립된 경제적 제공물이다.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2주차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846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COFFEE LADDER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 사다리 — 같은 콩, 다른 값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960120" y="5532120"/>
            <a:ext cx="10241280" cy="0"/>
          </a:xfrm>
          <a:prstGeom prst="line">
            <a:avLst/>
          </a:prstGeom>
          <a:noFill/>
          <a:ln w="15875">
            <a:solidFill>
              <a:srgbClr val="C4CA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4983480"/>
            <a:ext cx="1600200" cy="548640"/>
          </a:xfrm>
          <a:prstGeom prst="roundRect">
            <a:avLst>
              <a:gd name="adj" fmla="val 8333"/>
            </a:avLst>
          </a:prstGeom>
          <a:solidFill>
            <a:srgbClr val="6E86A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45994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몇백 원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097280" y="56052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5943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원재료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37560" y="4434840"/>
            <a:ext cx="1600200" cy="1097280"/>
          </a:xfrm>
          <a:prstGeom prst="roundRect">
            <a:avLst>
              <a:gd name="adj" fmla="val 4167"/>
            </a:avLst>
          </a:prstGeom>
          <a:solidFill>
            <a:srgbClr val="5B7699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0" y="40507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1천 원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200400" y="56052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캔커피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200400" y="5943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40680" y="3520440"/>
            <a:ext cx="1600200" cy="2011680"/>
          </a:xfrm>
          <a:prstGeom prst="roundRect">
            <a:avLst>
              <a:gd name="adj" fmla="val 2857"/>
            </a:avLst>
          </a:prstGeom>
          <a:solidFill>
            <a:srgbClr val="C98A63"/>
          </a:solidFill>
          <a:ln/>
        </p:spPr>
      </p:sp>
      <p:sp>
        <p:nvSpPr>
          <p:cNvPr id="15" name="Text 13"/>
          <p:cNvSpPr/>
          <p:nvPr/>
        </p:nvSpPr>
        <p:spPr>
          <a:xfrm>
            <a:off x="5303520" y="313639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5천 원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303520" y="56052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카페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03520" y="5943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D5A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543800" y="2743200"/>
            <a:ext cx="1600200" cy="2788920"/>
          </a:xfrm>
          <a:prstGeom prst="roundRect">
            <a:avLst>
              <a:gd name="adj" fmla="val 2857"/>
            </a:avLst>
          </a:prstGeom>
          <a:solidFill>
            <a:srgbClr val="E8623D"/>
          </a:solidFill>
          <a:ln/>
        </p:spPr>
      </p:sp>
      <p:sp>
        <p:nvSpPr>
          <p:cNvPr id="19" name="Text 17"/>
          <p:cNvSpPr/>
          <p:nvPr/>
        </p:nvSpPr>
        <p:spPr>
          <a:xfrm>
            <a:off x="7406640" y="235915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8천~1만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406640" y="56052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리저브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06640" y="5943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646920" y="2240280"/>
            <a:ext cx="1600200" cy="3291840"/>
          </a:xfrm>
          <a:prstGeom prst="roundRect">
            <a:avLst>
              <a:gd name="adj" fmla="val 2857"/>
            </a:avLst>
          </a:prstGeom>
          <a:solidFill>
            <a:srgbClr val="BE4A28"/>
          </a:solidFill>
          <a:ln/>
        </p:spPr>
      </p:sp>
      <p:sp>
        <p:nvSpPr>
          <p:cNvPr id="23" name="Text 21"/>
          <p:cNvSpPr/>
          <p:nvPr/>
        </p:nvSpPr>
        <p:spPr>
          <a:xfrm>
            <a:off x="9509760" y="185623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1만+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509760" y="5605272"/>
            <a:ext cx="1874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블루보틀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509760" y="59436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커피 가격이 아니라, 경험 가격이다.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2주차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846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IT PAYS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경험은 왜 돈이 되는가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서비스는 소비되고 끝난다. </a:t>
            </a:r>
            <a:pPr algn="l" indent="0" marL="0">
              <a:buNone/>
            </a:pPr>
            <a:r>
              <a:rPr lang="en-US" sz="150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경험은 </a:t>
            </a:r>
            <a:pPr algn="l" indent="0" marL="0">
              <a:buNone/>
            </a:pPr>
            <a:r>
              <a:rPr lang="en-US" sz="15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</a:t>
            </a:r>
            <a:pPr algn="l" indent="0" marL="0">
              <a:buNone/>
            </a:pPr>
            <a:r>
              <a:rPr lang="en-US" sz="150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된다 — 사람은 기억을 사기 위해 돈을 낸다.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6517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BEBE3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65176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자극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14600" y="2651760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6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2898648" y="26517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BEBE3"/>
          </a:solidFill>
          <a:ln/>
        </p:spPr>
      </p:sp>
      <p:sp>
        <p:nvSpPr>
          <p:cNvPr id="10" name="Text 8"/>
          <p:cNvSpPr/>
          <p:nvPr/>
        </p:nvSpPr>
        <p:spPr>
          <a:xfrm>
            <a:off x="2944368" y="265176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참여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73168" y="2651760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6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5157216" y="26517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BEBE3"/>
          </a:solidFill>
          <a:ln/>
        </p:spPr>
      </p:sp>
      <p:sp>
        <p:nvSpPr>
          <p:cNvPr id="13" name="Text 11"/>
          <p:cNvSpPr/>
          <p:nvPr/>
        </p:nvSpPr>
        <p:spPr>
          <a:xfrm>
            <a:off x="5202936" y="265176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정서·인지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반응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031736" y="2651760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6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7415784" y="26517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FBEBE3"/>
          </a:solidFill>
          <a:ln/>
        </p:spPr>
      </p:sp>
      <p:sp>
        <p:nvSpPr>
          <p:cNvPr id="16" name="Text 14"/>
          <p:cNvSpPr/>
          <p:nvPr/>
        </p:nvSpPr>
        <p:spPr>
          <a:xfrm>
            <a:off x="7461504" y="265176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290304" y="2651760"/>
            <a:ext cx="38404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6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9674352" y="2651760"/>
            <a:ext cx="1874520" cy="1371600"/>
          </a:xfrm>
          <a:prstGeom prst="roundRect">
            <a:avLst>
              <a:gd name="adj" fmla="val 6667"/>
            </a:avLst>
          </a:prstGeom>
          <a:solidFill>
            <a:srgbClr val="E8623D"/>
          </a:solidFill>
          <a:ln/>
        </p:spPr>
      </p:sp>
      <p:sp>
        <p:nvSpPr>
          <p:cNvPr id="19" name="Text 17"/>
          <p:cNvSpPr/>
          <p:nvPr/>
        </p:nvSpPr>
        <p:spPr>
          <a:xfrm>
            <a:off x="9720072" y="2651760"/>
            <a:ext cx="1783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</a:t>
            </a:r>
            <a:endParaRPr lang="en-US" sz="16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0080" y="4617720"/>
            <a:ext cx="10835640" cy="1051560"/>
          </a:xfrm>
          <a:prstGeom prst="roundRect">
            <a:avLst>
              <a:gd name="adj" fmla="val 6957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960120" y="461772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판별 기준:  </a:t>
            </a:r>
            <a:pPr algn="l" indent="0" marL="0">
              <a:buNone/>
            </a:pPr>
            <a:r>
              <a:rPr lang="en-US" sz="150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고객이 경험 </a:t>
            </a:r>
            <a:pPr algn="l" indent="0" marL="0">
              <a:buNone/>
            </a:pPr>
            <a:r>
              <a:rPr lang="en-US" sz="15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 자체에 시간·돈을 지불하는가?</a:t>
            </a:r>
            <a:pPr algn="l" indent="0" marL="0">
              <a:buNone/>
            </a:pPr>
            <a:r>
              <a:rPr lang="en-US" sz="150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(입장료·티켓·유료 체험·유료 멤버십)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2주차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846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THE 4E MODEL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경험의 네 영역 — 4E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2148840" y="251460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E9EEF4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27706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286000" y="31912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Educational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286000" y="3474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“배운다”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45152" y="251460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DF0D9"/>
          </a:solidFill>
          <a:ln/>
        </p:spPr>
      </p:sp>
      <p:sp>
        <p:nvSpPr>
          <p:cNvPr id="10" name="Text 8"/>
          <p:cNvSpPr/>
          <p:nvPr/>
        </p:nvSpPr>
        <p:spPr>
          <a:xfrm>
            <a:off x="4782312" y="2770632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현실도피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782312" y="31912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Escapist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782312" y="347472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“주인공이 된다”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148840" y="4096512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BEBE3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0" y="435254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엔터테인먼트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286000" y="47731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Entertainment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286000" y="50566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“본다”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645152" y="4096512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ECEBF3"/>
          </a:solidFill>
          <a:ln/>
        </p:spPr>
      </p:sp>
      <p:sp>
        <p:nvSpPr>
          <p:cNvPr id="18" name="Text 16"/>
          <p:cNvSpPr/>
          <p:nvPr/>
        </p:nvSpPr>
        <p:spPr>
          <a:xfrm>
            <a:off x="4782312" y="4352544"/>
            <a:ext cx="2057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미적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782312" y="477316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Esthetic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82312" y="5056632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“머문다”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105656" y="3557016"/>
            <a:ext cx="914400" cy="914400"/>
          </a:xfrm>
          <a:prstGeom prst="ellipse">
            <a:avLst/>
          </a:prstGeom>
          <a:solidFill>
            <a:srgbClr val="E862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05656" y="3557016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SWEET</a:t>
            </a:r>
            <a:endParaRPr lang="en-US" sz="10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SPOT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148840" y="2130552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능동 참여 (active) ▲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48840" y="5586984"/>
            <a:ext cx="4828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 수동 참여 (passive)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3648456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흡수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absorption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068312" y="3648456"/>
            <a:ext cx="1143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몰입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immersion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818120" y="2331720"/>
            <a:ext cx="3886200" cy="3383280"/>
          </a:xfrm>
          <a:prstGeom prst="roundRect">
            <a:avLst>
              <a:gd name="adj" fmla="val 2703"/>
            </a:avLst>
          </a:prstGeom>
          <a:solidFill>
            <a:srgbClr val="F4F6F9"/>
          </a:solidFill>
          <a:ln/>
        </p:spPr>
      </p:sp>
      <p:sp>
        <p:nvSpPr>
          <p:cNvPr id="28" name="Text 26"/>
          <p:cNvSpPr/>
          <p:nvPr/>
        </p:nvSpPr>
        <p:spPr>
          <a:xfrm>
            <a:off x="8092440" y="2560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축으로 읽는다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092440" y="3017520"/>
            <a:ext cx="33375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참여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수동(본다) ↔ 능동(직접 한다)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연결</a:t>
            </a:r>
            <a:endParaRPr lang="en-US" sz="1350" dirty="0"/>
          </a:p>
          <a:p>
            <a:pPr algn="l" indent="0" marL="0">
              <a:lnSpc>
                <a:spcPct val="115000"/>
              </a:lnSpc>
              <a:spcAft>
                <a:spcPts val="1200"/>
              </a:spcAft>
              <a:buNone/>
            </a:pPr>
            <a:r>
              <a:rPr lang="en-US" sz="135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흡수(내게 들어옴) ↔ 몰입(내가 들어감)</a:t>
            </a:r>
            <a:endParaRPr lang="en-US" sz="13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4E는 고정된 상자가 아니라, 고객이 참여하는 '방식의 지도'.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2주차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846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FOUR REALMS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영역, 하나씩 뜯어보기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BEBE3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456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E8623D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45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+ 흡수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788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엔터테인먼트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3227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Entertainment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4008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4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“본다”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85800" y="4251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영화·공연·일반 숏폼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364992" y="187452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BEBE3"/>
          </a:solidFill>
          <a:ln/>
        </p:spPr>
      </p:sp>
      <p:sp>
        <p:nvSpPr>
          <p:cNvPr id="13" name="Shape 11"/>
          <p:cNvSpPr/>
          <p:nvPr/>
        </p:nvSpPr>
        <p:spPr>
          <a:xfrm>
            <a:off x="3685032" y="219456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E8623D"/>
          </a:solidFill>
          <a:ln/>
        </p:spPr>
      </p:sp>
      <p:sp>
        <p:nvSpPr>
          <p:cNvPr id="14" name="Text 12"/>
          <p:cNvSpPr/>
          <p:nvPr/>
        </p:nvSpPr>
        <p:spPr>
          <a:xfrm>
            <a:off x="3685032" y="21945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능동 + 흡수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47872" y="2788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547872" y="3227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Educational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547872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4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“배운다”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93592" y="4251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강의·워크숍·튜토리얼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72784" y="187452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BEBE3"/>
          </a:solidFill>
          <a:ln/>
        </p:spPr>
      </p:sp>
      <p:sp>
        <p:nvSpPr>
          <p:cNvPr id="20" name="Shape 18"/>
          <p:cNvSpPr/>
          <p:nvPr/>
        </p:nvSpPr>
        <p:spPr>
          <a:xfrm>
            <a:off x="6592824" y="219456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E8623D"/>
          </a:solidFill>
          <a:ln/>
        </p:spPr>
      </p:sp>
      <p:sp>
        <p:nvSpPr>
          <p:cNvPr id="21" name="Text 19"/>
          <p:cNvSpPr/>
          <p:nvPr/>
        </p:nvSpPr>
        <p:spPr>
          <a:xfrm>
            <a:off x="6592824" y="21945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능동 + 몰입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55664" y="2788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현실도피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55664" y="3227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Escapist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55664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4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“주인공이 된다”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01384" y="4251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게임·테마파크·방탈출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9180576" y="1874520"/>
            <a:ext cx="2651760" cy="3383280"/>
          </a:xfrm>
          <a:prstGeom prst="roundRect">
            <a:avLst>
              <a:gd name="adj" fmla="val 3448"/>
            </a:avLst>
          </a:prstGeom>
          <a:solidFill>
            <a:srgbClr val="FBEBE3"/>
          </a:solidFill>
          <a:ln/>
        </p:spPr>
      </p:sp>
      <p:sp>
        <p:nvSpPr>
          <p:cNvPr id="27" name="Shape 25"/>
          <p:cNvSpPr/>
          <p:nvPr/>
        </p:nvSpPr>
        <p:spPr>
          <a:xfrm>
            <a:off x="9500616" y="2194560"/>
            <a:ext cx="2011680" cy="402336"/>
          </a:xfrm>
          <a:prstGeom prst="roundRect">
            <a:avLst>
              <a:gd name="adj" fmla="val 13636"/>
            </a:avLst>
          </a:prstGeom>
          <a:solidFill>
            <a:srgbClr val="E8623D"/>
          </a:solidFill>
          <a:ln/>
        </p:spPr>
      </p:sp>
      <p:sp>
        <p:nvSpPr>
          <p:cNvPr id="28" name="Text 26"/>
          <p:cNvSpPr/>
          <p:nvPr/>
        </p:nvSpPr>
        <p:spPr>
          <a:xfrm>
            <a:off x="9500616" y="21945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수동 + 몰입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363456" y="27889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미적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9363456" y="32278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Esthetic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363456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B4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“머문다”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409176" y="42519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미술관·공간·몰입형 전시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548640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흡수</a:t>
            </a:r>
            <a:pPr algn="ctr" indent="0" marL="0">
              <a:buNone/>
            </a:pPr>
            <a:r>
              <a:rPr lang="en-US" sz="145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경험이 내 안으로 들어옴   ·   </a:t>
            </a:r>
            <a:pPr algn="ctr" indent="0" marL="0">
              <a:buNone/>
            </a:pPr>
            <a:r>
              <a:rPr lang="en-US" sz="145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몰입</a:t>
            </a:r>
            <a:pPr algn="ctr" indent="0" marL="0">
              <a:buNone/>
            </a:pPr>
            <a:r>
              <a:rPr lang="en-US" sz="145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= 내가 경험 안으로 들어감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2주차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846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SWEET SPOT · 실무 사례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영역이 겹칠 때 — 그리고 우리 사례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1247120" cy="1417320"/>
          </a:xfrm>
          <a:prstGeom prst="roundRect">
            <a:avLst>
              <a:gd name="adj" fmla="val 6452"/>
            </a:avLst>
          </a:prstGeom>
          <a:solidFill>
            <a:srgbClr val="FBEBE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10607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강한 경험은 네 영역이 겹치는 '스위트 스팟'에 있다. </a:t>
            </a:r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디즈니는 오락·교육·현실도피·미적을 동시에 담는다. 단, 기계적으로 넷을 다 넣기보다 하나의 주된 영역을 정하고 나머지가 보완해야 한다.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57200" y="3429000"/>
            <a:ext cx="11247120" cy="2514600"/>
          </a:xfrm>
          <a:prstGeom prst="roundRect">
            <a:avLst>
              <a:gd name="adj" fmla="val 3636"/>
            </a:avLst>
          </a:prstGeom>
          <a:solidFill>
            <a:srgbClr val="FCFCFD"/>
          </a:solidFill>
          <a:ln w="22225">
            <a:solidFill>
              <a:srgbClr val="E8623D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777240" y="3749040"/>
            <a:ext cx="3108960" cy="457200"/>
          </a:xfrm>
          <a:prstGeom prst="roundRect">
            <a:avLst>
              <a:gd name="adj" fmla="val 14000"/>
            </a:avLst>
          </a:prstGeom>
          <a:solidFill>
            <a:srgbClr val="E8623D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🟨  실무 사례 자리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3891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벨컴이 진행한 캠페인 · 행사 · 팝업 하나를 골라 4E로 분해하기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22960" y="49377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이건 엔터테인먼트, 이건 교육… 어느 영역이 강하고, 어디가 비어 있었나?  (강의 직전 채워 넣기)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2주차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846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 IS THEATRE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비즈니스는 무대다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E9EEF4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745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651760" y="1874520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6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200400" y="1874520"/>
            <a:ext cx="2651760" cy="566928"/>
          </a:xfrm>
          <a:prstGeom prst="roundRect">
            <a:avLst>
              <a:gd name="adj" fmla="val 11290"/>
            </a:avLst>
          </a:prstGeom>
          <a:solidFill>
            <a:srgbClr val="FBEBE3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0" y="18745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무대 (stage)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2660904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E9EEF4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60904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651760" y="2660904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6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200400" y="2660904"/>
            <a:ext cx="2651760" cy="566928"/>
          </a:xfrm>
          <a:prstGeom prst="roundRect">
            <a:avLst>
              <a:gd name="adj" fmla="val 11290"/>
            </a:avLst>
          </a:prstGeom>
          <a:solidFill>
            <a:srgbClr val="FBEBE3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0" y="266090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소품 (props)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2920" y="3447288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E9EEF4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447288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651760" y="3447288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6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200400" y="3447288"/>
            <a:ext cx="2651760" cy="566928"/>
          </a:xfrm>
          <a:prstGeom prst="roundRect">
            <a:avLst>
              <a:gd name="adj" fmla="val 11290"/>
            </a:avLst>
          </a:prstGeom>
          <a:solidFill>
            <a:srgbClr val="FBEBE3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344728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배우 (role)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02920" y="4233672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E9EEF4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4233672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651760" y="4233672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6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200400" y="4233672"/>
            <a:ext cx="2651760" cy="566928"/>
          </a:xfrm>
          <a:prstGeom prst="roundRect">
            <a:avLst>
              <a:gd name="adj" fmla="val 11290"/>
            </a:avLst>
          </a:prstGeom>
          <a:solidFill>
            <a:srgbClr val="FBEBE3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0" y="423367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관객 · 참여배우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02920" y="5020056"/>
            <a:ext cx="2103120" cy="566928"/>
          </a:xfrm>
          <a:prstGeom prst="roundRect">
            <a:avLst>
              <a:gd name="adj" fmla="val 11290"/>
            </a:avLst>
          </a:prstGeom>
          <a:solidFill>
            <a:srgbClr val="E9EEF4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5020056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E46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경영자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2651760" y="5020056"/>
            <a:ext cx="502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62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3200400" y="5020056"/>
            <a:ext cx="2651760" cy="566928"/>
          </a:xfrm>
          <a:prstGeom prst="roundRect">
            <a:avLst>
              <a:gd name="adj" fmla="val 11290"/>
            </a:avLst>
          </a:prstGeom>
          <a:solidFill>
            <a:srgbClr val="FBEBE3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0" y="502005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연출가 (director)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6400800" y="1874520"/>
            <a:ext cx="5303520" cy="3337560"/>
          </a:xfrm>
          <a:prstGeom prst="roundRect">
            <a:avLst>
              <a:gd name="adj" fmla="val 2740"/>
            </a:avLst>
          </a:prstGeom>
          <a:solidFill>
            <a:srgbClr val="20233A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2148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100" kern="0" dirty="0">
                <a:solidFill>
                  <a:srgbClr val="F2B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디즈니의 언어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20840" y="265176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C9CC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직원 → </a:t>
            </a:r>
            <a:pPr algn="l"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Cast Member</a:t>
            </a:r>
            <a:endParaRPr lang="en-US" sz="19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C9CC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 → </a:t>
            </a:r>
            <a:pPr algn="l"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Guest</a:t>
            </a:r>
            <a:endParaRPr lang="en-US" sz="19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900" dirty="0">
                <a:solidFill>
                  <a:srgbClr val="C9CC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놀이공원 → </a:t>
            </a:r>
            <a:pPr algn="l" indent="0" marL="0">
              <a:lnSpc>
                <a:spcPct val="13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Stage(무대)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6720840" y="443484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C9CC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앞무대(고객이 보는 행동)와 뒷무대(운영·준비)를 의식적으로 구분한다.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502920" y="58521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* '거짓 연기'가 아니라, 상황에 맞는 역할을 명확히 이해하고 행동을 의도적으로 설계한다는 뜻.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2주차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846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DESIGN PRINCIPLES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경험을 설계하는 5원칙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56232"/>
            <a:ext cx="512064" cy="512064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562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88720" y="18105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하나의 주제 (Theme)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212080" y="178308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공간·행동·인물을 하나로 묶는 해석의 중심. ('고급스러움'은 목표일 뿐, '19세기 탐험가의 비밀 연구실'이 진짜 주제)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542032"/>
            <a:ext cx="512064" cy="512064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5420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88720" y="24963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긍정 단서로 인상 조화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212080" y="246888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언어·음악·조명·포장·응대… 작은 신호들이 주제를 일관되게 강화하도록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" y="3227832"/>
            <a:ext cx="512064" cy="512064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2278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188720" y="31821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 단서 제거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212080" y="315468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 세계 밖으로 끌어내거나 주제와 모순되는 요소를 다시 디자인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02920" y="3913632"/>
            <a:ext cx="512064" cy="512064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9136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188720" y="38679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기념품 (Memorabilia)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212080" y="384048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경험을 회상시키는 유형·디지털 매개 (사진·굿즈·저장·밈)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02920" y="4599432"/>
            <a:ext cx="512064" cy="512064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459943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188720" y="455371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오감 자극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212080" y="4526280"/>
            <a:ext cx="6492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감각으로 주제를 강화 — 단, 많이가 아니라 '조화롭게'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5440680"/>
            <a:ext cx="11201400" cy="685800"/>
          </a:xfrm>
          <a:prstGeom prst="roundRect">
            <a:avLst>
              <a:gd name="adj" fmla="val 10667"/>
            </a:avLst>
          </a:prstGeom>
          <a:solidFill>
            <a:srgbClr val="F4F6F9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440680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 </a:t>
            </a:r>
            <a:pPr algn="l" indent="0" marL="0">
              <a:buNone/>
            </a:pPr>
            <a:r>
              <a:rPr lang="en-US" sz="140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요소가 아니라 전체 경험의 '일관성'. 다섯 원칙은 '기억이 형성되는 구조'를 설계하는 원리다.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2주차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846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EVOLUTION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이론의 진화 — 1998 → 1999 → 2019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40080" y="3703320"/>
            <a:ext cx="11247120" cy="0"/>
          </a:xfrm>
          <a:prstGeom prst="line">
            <a:avLst/>
          </a:prstGeom>
          <a:noFill/>
          <a:ln w="25400">
            <a:solidFill>
              <a:srgbClr val="D9DDE4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640080" y="25603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38100" dir="5400000">
              <a:srgbClr val="9AA0AE">
                <a:alpha val="2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52928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E8623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8529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1998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474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HBR 논문 (선언)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14400" y="39319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경험경제의 등장 · 가치 진화 · 4E · 연출 5원칙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005072" y="3383280"/>
            <a:ext cx="585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AA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572000" y="25603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38100" dir="5400000">
              <a:srgbClr val="9AA0AE">
                <a:alpha val="2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2852928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3D5A80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28529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1999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46320" y="3474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· Work is Theatre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46320" y="39319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조직의 연극화 · 대량맞춤화 · 연극 4유형 · Transformation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936992" y="3383280"/>
            <a:ext cx="5852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AAB0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600" dirty="0"/>
          </a:p>
        </p:txBody>
      </p:sp>
      <p:sp>
        <p:nvSpPr>
          <p:cNvPr id="18" name="Shape 16"/>
          <p:cNvSpPr/>
          <p:nvPr/>
        </p:nvSpPr>
        <p:spPr>
          <a:xfrm>
            <a:off x="8503920" y="25603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DE4"/>
            </a:solidFill>
            <a:prstDash val="solid"/>
          </a:ln>
          <a:effectLst>
            <a:outerShdw sx="100000" sy="100000" kx="0" ky="0" algn="bl" rotWithShape="0" blurRad="76200" dist="38100" dir="5400000">
              <a:srgbClr val="9AA0AE">
                <a:alpha val="2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778240" y="2852928"/>
            <a:ext cx="1371600" cy="457200"/>
          </a:xfrm>
          <a:prstGeom prst="roundRect">
            <a:avLst>
              <a:gd name="adj" fmla="val 12000"/>
            </a:avLst>
          </a:prstGeom>
          <a:solidFill>
            <a:srgbClr val="E8623D"/>
          </a:solidFill>
          <a:ln/>
        </p:spPr>
      </p:sp>
      <p:sp>
        <p:nvSpPr>
          <p:cNvPr id="20" name="Text 18"/>
          <p:cNvSpPr/>
          <p:nvPr/>
        </p:nvSpPr>
        <p:spPr>
          <a:xfrm>
            <a:off x="8778240" y="285292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2019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778240" y="34747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개정판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8778240" y="39319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부제: 고객의 '시간·주의·돈'을 두고 경쟁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2578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이론(가치 진화·4E·연출)은 바뀌지 않았다. </a:t>
            </a:r>
            <a:pPr algn="l" indent="0" marL="0">
              <a:buNone/>
            </a:pPr>
            <a:r>
              <a:rPr lang="en-US" sz="1400" dirty="0">
                <a:solidFill>
                  <a:srgbClr val="4550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'2019년에 새 4E가 나왔다'는 부정확 — 맥락과 경쟁 자원만 갱신됐다.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2주차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F2B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NEXT STEP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 다음은 '변화(Transformation)'다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2A2E4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CC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원재료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2724912" y="192024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999232" y="19202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2A2E4A"/>
          </a:solidFill>
          <a:ln/>
        </p:spPr>
      </p:sp>
      <p:sp>
        <p:nvSpPr>
          <p:cNvPr id="8" name="Text 6"/>
          <p:cNvSpPr/>
          <p:nvPr/>
        </p:nvSpPr>
        <p:spPr>
          <a:xfrm>
            <a:off x="2999232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CC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901184" y="192024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75504" y="19202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2A2E4A"/>
          </a:solidFill>
          <a:ln/>
        </p:spPr>
      </p:sp>
      <p:sp>
        <p:nvSpPr>
          <p:cNvPr id="11" name="Text 9"/>
          <p:cNvSpPr/>
          <p:nvPr/>
        </p:nvSpPr>
        <p:spPr>
          <a:xfrm>
            <a:off x="5175504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CC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77456" y="192024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351776" y="19202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2A2E4A"/>
          </a:solidFill>
          <a:ln/>
        </p:spPr>
      </p:sp>
      <p:sp>
        <p:nvSpPr>
          <p:cNvPr id="14" name="Text 12"/>
          <p:cNvSpPr/>
          <p:nvPr/>
        </p:nvSpPr>
        <p:spPr>
          <a:xfrm>
            <a:off x="7351776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9CC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9253728" y="1920240"/>
            <a:ext cx="292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A6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528048" y="1920240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E8623D"/>
          </a:solidFill>
          <a:ln/>
        </p:spPr>
      </p:sp>
      <p:sp>
        <p:nvSpPr>
          <p:cNvPr id="17" name="Text 15"/>
          <p:cNvSpPr/>
          <p:nvPr/>
        </p:nvSpPr>
        <p:spPr>
          <a:xfrm>
            <a:off x="9528048" y="1920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22960" y="3017520"/>
            <a:ext cx="5257800" cy="1371600"/>
          </a:xfrm>
          <a:prstGeom prst="roundRect">
            <a:avLst>
              <a:gd name="adj" fmla="val 6667"/>
            </a:avLst>
          </a:prstGeom>
          <a:solidFill>
            <a:srgbClr val="2A2E4A"/>
          </a:solidFill>
          <a:ln/>
        </p:spPr>
      </p:sp>
      <p:sp>
        <p:nvSpPr>
          <p:cNvPr id="19" name="Text 17"/>
          <p:cNvSpPr/>
          <p:nvPr/>
        </p:nvSpPr>
        <p:spPr>
          <a:xfrm>
            <a:off x="109728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BB0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97280" y="361188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고객에게 기억을 남긴다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355080" y="3017520"/>
            <a:ext cx="5349240" cy="1371600"/>
          </a:xfrm>
          <a:prstGeom prst="roundRect">
            <a:avLst>
              <a:gd name="adj" fmla="val 6667"/>
            </a:avLst>
          </a:prstGeom>
          <a:solidFill>
            <a:srgbClr val="E8623D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3200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BE0D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변화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629400" y="36118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고객의 상태 자체를 바꾼다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22960" y="470916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2B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여기선 고객 자신이 '제품'이다. </a:t>
            </a:r>
            <a:pPr algn="l" indent="0" marL="0">
              <a:buNone/>
            </a:pPr>
            <a:r>
              <a:rPr lang="en-US" sz="1450" dirty="0">
                <a:solidFill>
                  <a:srgbClr val="D7DA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교육(지식)·피트니스(신체)·코칭(행동)·의료(건강)처럼, 기업은 변화가 일어나도록 안내한다.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822960" y="54864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성공 기준도 달라진다:  </a:t>
            </a:r>
            <a:pPr algn="l" indent="0" marL="0">
              <a:buNone/>
            </a:pPr>
            <a:r>
              <a:rPr lang="en-US" sz="15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 = “기억에 남았나”   →   변화 = “실제로 달라졌나”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57784"/>
            <a:ext cx="146304" cy="146304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484632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200" kern="0" dirty="0">
                <a:solidFill>
                  <a:srgbClr val="BE4A2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IT MATTERS NOW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813816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틀이 지금 너희에게 중요한 이유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502920" y="1828800"/>
            <a:ext cx="457200" cy="45720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17647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시간·주의도 비용이다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16712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2019 부제 그대로 — 숏폼은 '15초를 투자하게 만드는 순간' 이미 희소 자원을 요구한다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2907792"/>
            <a:ext cx="457200" cy="45720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9077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284378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분석의 뼈대가 된다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43000" y="32461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브랜디드 콘텐츠·숏폼·팝업·IP·팬덤을 '경험'으로 해부하는 공통 틀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02920" y="3986784"/>
            <a:ext cx="457200" cy="45720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986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392277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2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연구로 확장된다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32511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55A6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예: 4E 경험 요소 → 콘텐츠 몰입 → 브랜드 태도·행동 의도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5029200"/>
            <a:ext cx="11201400" cy="1051560"/>
          </a:xfrm>
          <a:prstGeom prst="roundRect">
            <a:avLst>
              <a:gd name="adj" fmla="val 7826"/>
            </a:avLst>
          </a:prstGeom>
          <a:solidFill>
            <a:srgbClr val="FBF3E7"/>
          </a:solidFill>
          <a:ln w="15875">
            <a:solidFill>
              <a:srgbClr val="E4A94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029200"/>
            <a:ext cx="105613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9A6B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 학문적 구분:  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5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숏폼·알고리즘 적용은 파인·길모어의 직접 주장이 아니라, 이론을 현재 플랫폼 환경에 적용한 </a:t>
            </a:r>
            <a:pPr algn="l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9A6B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해석·연구 가설</a:t>
            </a:r>
            <a:pPr algn="l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6B5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명시해야 한다.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체험마케팅과 미디어 콘텐츠 · 2주차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41908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02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21140" y="822960"/>
            <a:ext cx="2743200" cy="2743200"/>
          </a:xfrm>
          <a:prstGeom prst="ellipse">
            <a:avLst/>
          </a:prstGeom>
          <a:solidFill>
            <a:srgbClr val="3D5A80">
              <a:alpha val="4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218420" y="822960"/>
            <a:ext cx="2743200" cy="2743200"/>
          </a:xfrm>
          <a:prstGeom prst="ellipse">
            <a:avLst/>
          </a:prstGeom>
          <a:solidFill>
            <a:srgbClr val="E8623D">
              <a:alpha val="4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777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300" kern="0" dirty="0">
                <a:solidFill>
                  <a:srgbClr val="F2B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마무리 · 다음 주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C9CC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— 파인·길모어: 4E = 경험의 '종류'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주(3주~) — 슈미트 SEM:  </a:t>
            </a:r>
            <a:pPr algn="l" indent="0" marL="0">
              <a:buNone/>
            </a:pPr>
            <a:r>
              <a:rPr lang="en-US" sz="2700" b="1" dirty="0">
                <a:solidFill>
                  <a:srgbClr val="E862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경험을 '어떻게 만드나'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822960" y="2880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AEB3C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감각 · 감성 · 인지 · 행동 · 관계 (5개 전략적 경험 모듈)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10881360" cy="868680"/>
          </a:xfrm>
          <a:prstGeom prst="roundRect">
            <a:avLst>
              <a:gd name="adj" fmla="val 9474"/>
            </a:avLst>
          </a:prstGeom>
          <a:solidFill>
            <a:srgbClr val="2A2E4A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5204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2B7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방어선(12주):  </a:t>
            </a:r>
            <a:pPr algn="l"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7E9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Brakus et al.(2009) 브랜드 경험 4차원(감각·정서·지성·행동)이 이 4E와 병렬로 연결 → 이론이 최신까지 이어진다.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4663440"/>
            <a:ext cx="10881360" cy="1097280"/>
          </a:xfrm>
          <a:prstGeom prst="roundRect">
            <a:avLst>
              <a:gd name="adj" fmla="val 8333"/>
            </a:avLst>
          </a:prstGeom>
          <a:solidFill>
            <a:srgbClr val="2F3352"/>
          </a:solidFill>
          <a:ln/>
        </p:spPr>
      </p:sp>
      <p:sp>
        <p:nvSpPr>
          <p:cNvPr id="11" name="Shape 9"/>
          <p:cNvSpPr/>
          <p:nvPr/>
        </p:nvSpPr>
        <p:spPr>
          <a:xfrm>
            <a:off x="1143000" y="4956048"/>
            <a:ext cx="1371600" cy="457200"/>
          </a:xfrm>
          <a:prstGeom prst="roundRect">
            <a:avLst>
              <a:gd name="adj" fmla="val 14000"/>
            </a:avLst>
          </a:prstGeom>
          <a:solidFill>
            <a:srgbClr val="E8623D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49560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43000" y="544068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E7E9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본 브랜드 콘텐츠 하나를 4E로 분해 + 5원칙 중 무엇을 지켰는지 한 문단.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2026-07-20T07:57:27Z</dcterms:created>
  <dcterms:modified xsi:type="dcterms:W3CDTF">2026-07-20T07:57:27Z</dcterms:modified>
</cp:coreProperties>
</file>